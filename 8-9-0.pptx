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1" r:id="rId2"/>
    <p:sldId id="314" r:id="rId3"/>
    <p:sldId id="318" r:id="rId4"/>
    <p:sldId id="321" r:id="rId5"/>
    <p:sldId id="324"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8A93F-C175-7940-68C7-F4066C0EF3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053A06-DD08-75AB-ACE6-C11E3578D1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D7C458-0B88-A6A5-10FD-5846A758E4F3}"/>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5" name="Footer Placeholder 4">
            <a:extLst>
              <a:ext uri="{FF2B5EF4-FFF2-40B4-BE49-F238E27FC236}">
                <a16:creationId xmlns:a16="http://schemas.microsoft.com/office/drawing/2014/main" id="{8677B989-1F95-F48F-0F3D-195BC238BC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F7AE41-9DB9-9DF6-C9A7-E6C90820EABB}"/>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1284246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6AAE8-EF1B-C65F-91E5-8DD858467B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10AA4F-19B8-3DAF-7E1F-7887A4EDB0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54F98F-811A-B25E-E918-58DBFE161AC2}"/>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5" name="Footer Placeholder 4">
            <a:extLst>
              <a:ext uri="{FF2B5EF4-FFF2-40B4-BE49-F238E27FC236}">
                <a16:creationId xmlns:a16="http://schemas.microsoft.com/office/drawing/2014/main" id="{F6DACB0A-7543-7CB8-2B3A-AEF3AB4E58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2843B-E43F-7D66-0841-8E53A3D0152A}"/>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43777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E901-DB59-BA74-E5AD-FDD3283280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E8101B-E1F6-13F5-1941-18958582D6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0CFA04-E86F-4B1E-FBFD-553FA84D72E7}"/>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5" name="Footer Placeholder 4">
            <a:extLst>
              <a:ext uri="{FF2B5EF4-FFF2-40B4-BE49-F238E27FC236}">
                <a16:creationId xmlns:a16="http://schemas.microsoft.com/office/drawing/2014/main" id="{DC1FF78B-5837-2A96-4965-4ED5AFE08C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597AFB-E810-55B9-7CDE-630F5DC3DE7F}"/>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377409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1C0AE-DC82-FA66-3A37-206A954E39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E82D23-9336-D3F9-44C2-F6B6BA2022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E422F4-5B3D-F3C9-D05B-FA1DCD3960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DDFBF7-8CC5-684E-16DC-3B45CBE3EB51}"/>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6" name="Footer Placeholder 5">
            <a:extLst>
              <a:ext uri="{FF2B5EF4-FFF2-40B4-BE49-F238E27FC236}">
                <a16:creationId xmlns:a16="http://schemas.microsoft.com/office/drawing/2014/main" id="{030D41C9-3832-764D-FDAD-F69D040B4C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9CC6F9-CE42-F654-70F6-13E3C31E4538}"/>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7438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A8A44-37B6-6701-C854-600C3D0622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14DE52-50B7-59F5-A6C5-CBAB7CA3A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482A9A-B439-45E4-98AC-A61BD91AFC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3BBD66-D7EF-79AA-1F6A-93F430FA8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9DF1AF-A816-F23D-1967-CD64FCC19A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19B9FEE-4E16-8E0E-6744-1394DE2275F8}"/>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8" name="Footer Placeholder 7">
            <a:extLst>
              <a:ext uri="{FF2B5EF4-FFF2-40B4-BE49-F238E27FC236}">
                <a16:creationId xmlns:a16="http://schemas.microsoft.com/office/drawing/2014/main" id="{7DD42BFA-A90C-CA16-434E-59F73DBEF4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9F25A8-D98C-4805-19F8-483E2CD564C3}"/>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2567130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454D-CF71-B965-8535-FE5E961F95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BB5BD2-2261-D0BB-F2DE-3BF6E80228B1}"/>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4" name="Footer Placeholder 3">
            <a:extLst>
              <a:ext uri="{FF2B5EF4-FFF2-40B4-BE49-F238E27FC236}">
                <a16:creationId xmlns:a16="http://schemas.microsoft.com/office/drawing/2014/main" id="{FD0B5EF9-492B-2CE3-3DFD-0A68541228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20422E-5292-6781-5031-74E1C5BE4CFD}"/>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97614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B340FC-2651-3E63-E7B8-C3F5C934FFD0}"/>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3" name="Footer Placeholder 2">
            <a:extLst>
              <a:ext uri="{FF2B5EF4-FFF2-40B4-BE49-F238E27FC236}">
                <a16:creationId xmlns:a16="http://schemas.microsoft.com/office/drawing/2014/main" id="{3CCEB8EC-948D-B3A3-1C1A-6F66CBD104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CA9BA4-A50E-46D7-A542-77E76E21FF05}"/>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1522082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DB3C7-81AF-01EE-7A9A-88CB424977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8E944D-057C-D750-A8A9-0FA38039B1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75E50B-E123-FFE3-D490-AC545D21FE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CD3087-5A86-072E-E5BA-A72CE8E19052}"/>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6" name="Footer Placeholder 5">
            <a:extLst>
              <a:ext uri="{FF2B5EF4-FFF2-40B4-BE49-F238E27FC236}">
                <a16:creationId xmlns:a16="http://schemas.microsoft.com/office/drawing/2014/main" id="{47D7F1E2-E2C0-71A7-75AC-4EADB22F43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955F8E-352D-7821-EE87-CBF323942A2A}"/>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3863650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AF272-5BA1-9EC0-DB54-2B1A49AD9F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0FC97B-6EC2-22C9-4828-52D9433C30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CEF526-B482-6197-70A1-12A4CFCF6E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D6B74-A03F-D93B-3D09-F6F3CE24101E}"/>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6" name="Footer Placeholder 5">
            <a:extLst>
              <a:ext uri="{FF2B5EF4-FFF2-40B4-BE49-F238E27FC236}">
                <a16:creationId xmlns:a16="http://schemas.microsoft.com/office/drawing/2014/main" id="{75849D4C-32BE-C91D-5ACF-CACA291C87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93E3C4-AE53-E121-07F9-D5804E5B1C08}"/>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975309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1C9A-89C2-ACC9-736E-FE5D00EF1F4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C4F7DC-18C2-B276-D68C-A9FC8C0B01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117A48-0B6F-C7D3-2ACE-B4540629A473}"/>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5" name="Footer Placeholder 4">
            <a:extLst>
              <a:ext uri="{FF2B5EF4-FFF2-40B4-BE49-F238E27FC236}">
                <a16:creationId xmlns:a16="http://schemas.microsoft.com/office/drawing/2014/main" id="{EE8F6422-6BC4-22D1-73A7-FC9E712C9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71D643-685E-1B8D-E260-102059C8741B}"/>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3593924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BFF1F-C748-413D-2B8F-A4CD05C9AC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C67EAD-4EEB-055E-A959-9D57CAFCA7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B916EA-9F6F-57FA-849A-8D9258887620}"/>
              </a:ext>
            </a:extLst>
          </p:cNvPr>
          <p:cNvSpPr>
            <a:spLocks noGrp="1"/>
          </p:cNvSpPr>
          <p:nvPr>
            <p:ph type="dt" sz="half" idx="10"/>
          </p:nvPr>
        </p:nvSpPr>
        <p:spPr/>
        <p:txBody>
          <a:bodyPr/>
          <a:lstStyle/>
          <a:p>
            <a:fld id="{E868922C-24BC-4978-86AC-F18E1B68AA1B}" type="datetimeFigureOut">
              <a:rPr lang="en-IN" smtClean="0"/>
              <a:t>05-01-2026</a:t>
            </a:fld>
            <a:endParaRPr lang="en-IN"/>
          </a:p>
        </p:txBody>
      </p:sp>
      <p:sp>
        <p:nvSpPr>
          <p:cNvPr id="5" name="Footer Placeholder 4">
            <a:extLst>
              <a:ext uri="{FF2B5EF4-FFF2-40B4-BE49-F238E27FC236}">
                <a16:creationId xmlns:a16="http://schemas.microsoft.com/office/drawing/2014/main" id="{5004D2BC-ABEB-66F7-DF21-AB3E6D3976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7F573D-2B07-803C-2F75-A0895393819B}"/>
              </a:ext>
            </a:extLst>
          </p:cNvPr>
          <p:cNvSpPr>
            <a:spLocks noGrp="1"/>
          </p:cNvSpPr>
          <p:nvPr>
            <p:ph type="sldNum" sz="quarter" idx="12"/>
          </p:nvPr>
        </p:nvSpPr>
        <p:spPr/>
        <p:txBody>
          <a:bodyPr/>
          <a:lstStyle/>
          <a:p>
            <a:fld id="{B4628C65-66B8-4C81-8A9C-70E9BA1ADD59}" type="slidenum">
              <a:rPr lang="en-IN" smtClean="0"/>
              <a:t>‹#›</a:t>
            </a:fld>
            <a:endParaRPr lang="en-IN"/>
          </a:p>
        </p:txBody>
      </p:sp>
    </p:spTree>
    <p:extLst>
      <p:ext uri="{BB962C8B-B14F-4D97-AF65-F5344CB8AC3E}">
        <p14:creationId xmlns:p14="http://schemas.microsoft.com/office/powerpoint/2010/main" val="485689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6D4007-8A5B-F211-EFF5-6D2E1EB119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DA1D64-7558-F0AC-1DC0-23CF065487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286330-FB0A-7057-65A5-414552EFCB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8922C-24BC-4978-86AC-F18E1B68AA1B}" type="datetimeFigureOut">
              <a:rPr lang="en-IN" smtClean="0"/>
              <a:t>05-01-2026</a:t>
            </a:fld>
            <a:endParaRPr lang="en-IN"/>
          </a:p>
        </p:txBody>
      </p:sp>
      <p:sp>
        <p:nvSpPr>
          <p:cNvPr id="5" name="Footer Placeholder 4">
            <a:extLst>
              <a:ext uri="{FF2B5EF4-FFF2-40B4-BE49-F238E27FC236}">
                <a16:creationId xmlns:a16="http://schemas.microsoft.com/office/drawing/2014/main" id="{42EA2BB2-1C4F-9A0D-DB7D-31819C1311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1579E8-FC35-75DD-F68F-6F8A726E4B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628C65-66B8-4C81-8A9C-70E9BA1ADD59}" type="slidenum">
              <a:rPr lang="en-IN" smtClean="0"/>
              <a:t>‹#›</a:t>
            </a:fld>
            <a:endParaRPr lang="en-IN"/>
          </a:p>
        </p:txBody>
      </p:sp>
    </p:spTree>
    <p:extLst>
      <p:ext uri="{BB962C8B-B14F-4D97-AF65-F5344CB8AC3E}">
        <p14:creationId xmlns:p14="http://schemas.microsoft.com/office/powerpoint/2010/main" val="2586300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C2E192F-4862-F6E4-F5CF-8C99DA2209FD}"/>
              </a:ext>
            </a:extLst>
          </p:cNvPr>
          <p:cNvSpPr txBox="1"/>
          <p:nvPr/>
        </p:nvSpPr>
        <p:spPr>
          <a:xfrm>
            <a:off x="108155" y="336442"/>
            <a:ext cx="6096000" cy="369332"/>
          </a:xfrm>
          <a:prstGeom prst="rect">
            <a:avLst/>
          </a:prstGeom>
          <a:noFill/>
        </p:spPr>
        <p:txBody>
          <a:bodyPr wrap="square">
            <a:spAutoFit/>
          </a:bodyPr>
          <a:lstStyle/>
          <a:p>
            <a:r>
              <a:rPr lang="en-IN" dirty="0"/>
              <a:t>Classification Metrics: Accuracy and Confusion Matrix</a:t>
            </a:r>
          </a:p>
        </p:txBody>
      </p:sp>
      <p:sp>
        <p:nvSpPr>
          <p:cNvPr id="8" name="TextBox 7">
            <a:extLst>
              <a:ext uri="{FF2B5EF4-FFF2-40B4-BE49-F238E27FC236}">
                <a16:creationId xmlns:a16="http://schemas.microsoft.com/office/drawing/2014/main" id="{56D8C0E4-408B-DCC8-8596-1E51B4D6F837}"/>
              </a:ext>
            </a:extLst>
          </p:cNvPr>
          <p:cNvSpPr txBox="1"/>
          <p:nvPr/>
        </p:nvSpPr>
        <p:spPr>
          <a:xfrm>
            <a:off x="226141" y="984777"/>
            <a:ext cx="9930580" cy="646331"/>
          </a:xfrm>
          <a:prstGeom prst="rect">
            <a:avLst/>
          </a:prstGeom>
          <a:noFill/>
        </p:spPr>
        <p:txBody>
          <a:bodyPr wrap="square">
            <a:spAutoFit/>
          </a:bodyPr>
          <a:lstStyle/>
          <a:p>
            <a:r>
              <a:rPr lang="en-US" dirty="0"/>
              <a:t>The question is: </a:t>
            </a:r>
            <a:r>
              <a:rPr lang="en-US" b="1" dirty="0"/>
              <a:t>How do we know how well a particular algorithm is performing? w</a:t>
            </a:r>
            <a:r>
              <a:rPr lang="en-IN" dirty="0"/>
              <a:t>e have </a:t>
            </a:r>
            <a:r>
              <a:rPr lang="en-IN" b="1" dirty="0"/>
              <a:t>classification metrics</a:t>
            </a:r>
            <a:r>
              <a:rPr lang="en-IN" dirty="0"/>
              <a:t> to evaluate classification models. </a:t>
            </a:r>
          </a:p>
        </p:txBody>
      </p:sp>
      <p:sp>
        <p:nvSpPr>
          <p:cNvPr id="10" name="TextBox 9">
            <a:extLst>
              <a:ext uri="{FF2B5EF4-FFF2-40B4-BE49-F238E27FC236}">
                <a16:creationId xmlns:a16="http://schemas.microsoft.com/office/drawing/2014/main" id="{7E8B59BF-8D28-0C99-7E99-C8E5EC59E3FE}"/>
              </a:ext>
            </a:extLst>
          </p:cNvPr>
          <p:cNvSpPr txBox="1"/>
          <p:nvPr/>
        </p:nvSpPr>
        <p:spPr>
          <a:xfrm>
            <a:off x="737419" y="1910111"/>
            <a:ext cx="8672051" cy="3139321"/>
          </a:xfrm>
          <a:prstGeom prst="rect">
            <a:avLst/>
          </a:prstGeom>
          <a:noFill/>
        </p:spPr>
        <p:txBody>
          <a:bodyPr wrap="square">
            <a:spAutoFit/>
          </a:bodyPr>
          <a:lstStyle/>
          <a:p>
            <a:pPr>
              <a:buNone/>
            </a:pPr>
            <a:r>
              <a:rPr lang="en-US" b="1" dirty="0"/>
              <a:t>Classification Metrics Overview</a:t>
            </a:r>
          </a:p>
          <a:p>
            <a:pPr>
              <a:buNone/>
            </a:pPr>
            <a:r>
              <a:rPr lang="en-US" dirty="0"/>
              <a:t>There are many classification metrics:</a:t>
            </a:r>
          </a:p>
          <a:p>
            <a:pPr>
              <a:buFont typeface="Arial" panose="020B0604020202020204" pitchFamily="34" charset="0"/>
              <a:buChar char="•"/>
            </a:pPr>
            <a:r>
              <a:rPr lang="en-US" b="1" dirty="0"/>
              <a:t>Accuracy</a:t>
            </a:r>
            <a:endParaRPr lang="en-US" dirty="0"/>
          </a:p>
          <a:p>
            <a:pPr>
              <a:buFont typeface="Arial" panose="020B0604020202020204" pitchFamily="34" charset="0"/>
              <a:buChar char="•"/>
            </a:pPr>
            <a:r>
              <a:rPr lang="en-US" b="1" dirty="0"/>
              <a:t>Confusion Matrix</a:t>
            </a:r>
            <a:endParaRPr lang="en-US" dirty="0"/>
          </a:p>
          <a:p>
            <a:pPr>
              <a:buFont typeface="Arial" panose="020B0604020202020204" pitchFamily="34" charset="0"/>
              <a:buChar char="•"/>
            </a:pPr>
            <a:r>
              <a:rPr lang="en-US" b="1" dirty="0"/>
              <a:t>Precision</a:t>
            </a:r>
            <a:endParaRPr lang="en-US" dirty="0"/>
          </a:p>
          <a:p>
            <a:pPr>
              <a:buFont typeface="Arial" panose="020B0604020202020204" pitchFamily="34" charset="0"/>
              <a:buChar char="•"/>
            </a:pPr>
            <a:r>
              <a:rPr lang="en-US" b="1" dirty="0"/>
              <a:t>Recall</a:t>
            </a:r>
            <a:endParaRPr lang="en-US" dirty="0"/>
          </a:p>
          <a:p>
            <a:pPr>
              <a:buFont typeface="Arial" panose="020B0604020202020204" pitchFamily="34" charset="0"/>
              <a:buChar char="•"/>
            </a:pPr>
            <a:r>
              <a:rPr lang="en-US" b="1" dirty="0"/>
              <a:t>F1 Score</a:t>
            </a:r>
            <a:endParaRPr lang="en-US" dirty="0"/>
          </a:p>
          <a:p>
            <a:pPr>
              <a:buFont typeface="Arial" panose="020B0604020202020204" pitchFamily="34" charset="0"/>
              <a:buChar char="•"/>
            </a:pPr>
            <a:r>
              <a:rPr lang="en-US" b="1" dirty="0"/>
              <a:t>ROC-AUC</a:t>
            </a:r>
            <a:endParaRPr lang="en-US" dirty="0"/>
          </a:p>
          <a:p>
            <a:pPr>
              <a:buFont typeface="Arial" panose="020B0604020202020204" pitchFamily="34" charset="0"/>
              <a:buChar char="•"/>
            </a:pPr>
            <a:r>
              <a:rPr lang="en-US" dirty="0"/>
              <a:t>And many more...</a:t>
            </a:r>
          </a:p>
          <a:p>
            <a:pPr>
              <a:buNone/>
            </a:pPr>
            <a:r>
              <a:rPr lang="en-US" dirty="0"/>
              <a:t>It's often said that classification metrics are more difficult to understand than regression metrics. We'll start with the simplest classification metric: </a:t>
            </a:r>
            <a:r>
              <a:rPr lang="en-US" b="1" dirty="0"/>
              <a:t>Accuracy</a:t>
            </a:r>
            <a:r>
              <a:rPr lang="en-US" dirty="0"/>
              <a:t>.</a:t>
            </a:r>
          </a:p>
        </p:txBody>
      </p:sp>
    </p:spTree>
    <p:extLst>
      <p:ext uri="{BB962C8B-B14F-4D97-AF65-F5344CB8AC3E}">
        <p14:creationId xmlns:p14="http://schemas.microsoft.com/office/powerpoint/2010/main" val="528258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7A539C-92F3-5806-57E1-18193FF23E7A}"/>
              </a:ext>
            </a:extLst>
          </p:cNvPr>
          <p:cNvSpPr txBox="1"/>
          <p:nvPr/>
        </p:nvSpPr>
        <p:spPr>
          <a:xfrm>
            <a:off x="403123" y="219811"/>
            <a:ext cx="6096000" cy="3139321"/>
          </a:xfrm>
          <a:prstGeom prst="rect">
            <a:avLst/>
          </a:prstGeom>
          <a:noFill/>
        </p:spPr>
        <p:txBody>
          <a:bodyPr wrap="square">
            <a:spAutoFit/>
          </a:bodyPr>
          <a:lstStyle/>
          <a:p>
            <a:pPr>
              <a:buNone/>
            </a:pPr>
            <a:r>
              <a:rPr lang="en-US" b="1" dirty="0"/>
              <a:t>Question:</a:t>
            </a:r>
            <a:r>
              <a:rPr lang="en-US" dirty="0"/>
              <a:t> Which model is performing better on the test data?</a:t>
            </a:r>
          </a:p>
          <a:p>
            <a:pPr>
              <a:buNone/>
            </a:pPr>
            <a:r>
              <a:rPr lang="en-US" b="1" dirty="0"/>
              <a:t>Calculating Accuracy</a:t>
            </a:r>
          </a:p>
          <a:p>
            <a:pPr>
              <a:buNone/>
            </a:pPr>
            <a:r>
              <a:rPr lang="en-US" dirty="0"/>
              <a:t>The simple solution (even a child could tell you): We'll check </a:t>
            </a:r>
            <a:r>
              <a:rPr lang="en-US" b="1" dirty="0"/>
              <a:t>how many times each model made mistakes</a:t>
            </a:r>
            <a:r>
              <a:rPr lang="en-US" dirty="0"/>
              <a:t> OR </a:t>
            </a:r>
            <a:r>
              <a:rPr lang="en-US" b="1" dirty="0"/>
              <a:t>how accurate each model is</a:t>
            </a:r>
            <a:r>
              <a:rPr lang="en-US" dirty="0"/>
              <a:t>.</a:t>
            </a:r>
          </a:p>
          <a:p>
            <a:pPr>
              <a:buNone/>
            </a:pPr>
            <a:r>
              <a:rPr lang="en-US" b="1" dirty="0"/>
              <a:t>For each student, we check if the prediction is correct or wrong.</a:t>
            </a:r>
            <a:endParaRPr lang="en-US" dirty="0"/>
          </a:p>
          <a:p>
            <a:pPr>
              <a:buNone/>
            </a:pPr>
            <a:r>
              <a:rPr lang="en-US" b="1" dirty="0"/>
              <a:t>Logistic Regression:</a:t>
            </a:r>
            <a:endParaRPr lang="en-US" dirty="0"/>
          </a:p>
          <a:p>
            <a:pPr>
              <a:buFont typeface="Arial" panose="020B0604020202020204" pitchFamily="34" charset="0"/>
              <a:buChar char="•"/>
            </a:pPr>
            <a:r>
              <a:rPr lang="en-US" dirty="0"/>
              <a:t>Total predictions: 10</a:t>
            </a:r>
          </a:p>
          <a:p>
            <a:pPr>
              <a:buFont typeface="Arial" panose="020B0604020202020204" pitchFamily="34" charset="0"/>
              <a:buChar char="•"/>
            </a:pPr>
            <a:r>
              <a:rPr lang="en-US" dirty="0"/>
              <a:t>Correct predictions: 8</a:t>
            </a:r>
          </a:p>
          <a:p>
            <a:pPr>
              <a:buFont typeface="Arial" panose="020B0604020202020204" pitchFamily="34" charset="0"/>
              <a:buChar char="•"/>
            </a:pPr>
            <a:r>
              <a:rPr lang="en-US" b="1" dirty="0"/>
              <a:t>Accuracy = 8/10 = 0.8 = 80%</a:t>
            </a:r>
            <a:endParaRPr lang="en-US" dirty="0"/>
          </a:p>
        </p:txBody>
      </p:sp>
      <p:sp>
        <p:nvSpPr>
          <p:cNvPr id="5" name="TextBox 4">
            <a:extLst>
              <a:ext uri="{FF2B5EF4-FFF2-40B4-BE49-F238E27FC236}">
                <a16:creationId xmlns:a16="http://schemas.microsoft.com/office/drawing/2014/main" id="{49C40DD2-44DA-D35F-2D87-BD3C601FD03F}"/>
              </a:ext>
            </a:extLst>
          </p:cNvPr>
          <p:cNvSpPr txBox="1"/>
          <p:nvPr/>
        </p:nvSpPr>
        <p:spPr>
          <a:xfrm>
            <a:off x="344130" y="3498869"/>
            <a:ext cx="6096000" cy="1754326"/>
          </a:xfrm>
          <a:prstGeom prst="rect">
            <a:avLst/>
          </a:prstGeom>
          <a:noFill/>
        </p:spPr>
        <p:txBody>
          <a:bodyPr wrap="square">
            <a:spAutoFit/>
          </a:bodyPr>
          <a:lstStyle/>
          <a:p>
            <a:pPr>
              <a:buNone/>
            </a:pPr>
            <a:r>
              <a:rPr lang="en-US" b="1" dirty="0"/>
              <a:t>Decision Tree:</a:t>
            </a:r>
            <a:endParaRPr lang="en-US" dirty="0"/>
          </a:p>
          <a:p>
            <a:pPr>
              <a:buFont typeface="Arial" panose="020B0604020202020204" pitchFamily="34" charset="0"/>
              <a:buChar char="•"/>
            </a:pPr>
            <a:r>
              <a:rPr lang="en-US" dirty="0"/>
              <a:t>Total predictions: 10</a:t>
            </a:r>
          </a:p>
          <a:p>
            <a:pPr>
              <a:buFont typeface="Arial" panose="020B0604020202020204" pitchFamily="34" charset="0"/>
              <a:buChar char="•"/>
            </a:pPr>
            <a:r>
              <a:rPr lang="en-US" dirty="0"/>
              <a:t>Correct predictions: 9</a:t>
            </a:r>
          </a:p>
          <a:p>
            <a:pPr>
              <a:buFont typeface="Arial" panose="020B0604020202020204" pitchFamily="34" charset="0"/>
              <a:buChar char="•"/>
            </a:pPr>
            <a:r>
              <a:rPr lang="en-US" b="1" dirty="0"/>
              <a:t>Accuracy = 9/10 = 0.9 = 90%</a:t>
            </a:r>
            <a:endParaRPr lang="en-US" dirty="0"/>
          </a:p>
          <a:p>
            <a:pPr>
              <a:buNone/>
            </a:pPr>
            <a:r>
              <a:rPr lang="en-US" b="1" dirty="0"/>
              <a:t>Conclusion:</a:t>
            </a:r>
            <a:r>
              <a:rPr lang="en-US" dirty="0"/>
              <a:t> Decision Tree is performing better on this data compared to Logistic Regression.</a:t>
            </a:r>
          </a:p>
        </p:txBody>
      </p:sp>
      <p:sp>
        <p:nvSpPr>
          <p:cNvPr id="8" name="TextBox 7">
            <a:extLst>
              <a:ext uri="{FF2B5EF4-FFF2-40B4-BE49-F238E27FC236}">
                <a16:creationId xmlns:a16="http://schemas.microsoft.com/office/drawing/2014/main" id="{A193195A-AAA4-E197-4FBB-236812F6DA0C}"/>
              </a:ext>
            </a:extLst>
          </p:cNvPr>
          <p:cNvSpPr txBox="1"/>
          <p:nvPr/>
        </p:nvSpPr>
        <p:spPr>
          <a:xfrm>
            <a:off x="344130" y="5253195"/>
            <a:ext cx="6096000" cy="369332"/>
          </a:xfrm>
          <a:prstGeom prst="rect">
            <a:avLst/>
          </a:prstGeom>
          <a:noFill/>
        </p:spPr>
        <p:txBody>
          <a:bodyPr wrap="square">
            <a:spAutoFit/>
          </a:bodyPr>
          <a:lstStyle/>
          <a:p>
            <a:r>
              <a:rPr lang="en-IN" dirty="0"/>
              <a:t>Accuracy Formula</a:t>
            </a:r>
          </a:p>
        </p:txBody>
      </p:sp>
      <p:sp>
        <p:nvSpPr>
          <p:cNvPr id="10" name="TextBox 9">
            <a:extLst>
              <a:ext uri="{FF2B5EF4-FFF2-40B4-BE49-F238E27FC236}">
                <a16:creationId xmlns:a16="http://schemas.microsoft.com/office/drawing/2014/main" id="{54C8F0EB-A8BA-2FB3-3A98-CE4DF5FD6668}"/>
              </a:ext>
            </a:extLst>
          </p:cNvPr>
          <p:cNvSpPr txBox="1"/>
          <p:nvPr/>
        </p:nvSpPr>
        <p:spPr>
          <a:xfrm>
            <a:off x="344130" y="5622527"/>
            <a:ext cx="6096000" cy="646331"/>
          </a:xfrm>
          <a:prstGeom prst="rect">
            <a:avLst/>
          </a:prstGeom>
          <a:noFill/>
        </p:spPr>
        <p:txBody>
          <a:bodyPr wrap="square">
            <a:spAutoFit/>
          </a:bodyPr>
          <a:lstStyle/>
          <a:p>
            <a:r>
              <a:rPr lang="en-IN" dirty="0"/>
              <a:t>Accuracy = Number of Correct Predictions / Total Number of Predictions</a:t>
            </a:r>
          </a:p>
        </p:txBody>
      </p:sp>
      <p:sp>
        <p:nvSpPr>
          <p:cNvPr id="12" name="TextBox 11">
            <a:extLst>
              <a:ext uri="{FF2B5EF4-FFF2-40B4-BE49-F238E27FC236}">
                <a16:creationId xmlns:a16="http://schemas.microsoft.com/office/drawing/2014/main" id="{91FF7DB7-256A-F174-69D6-4031E67C3B62}"/>
              </a:ext>
            </a:extLst>
          </p:cNvPr>
          <p:cNvSpPr txBox="1"/>
          <p:nvPr/>
        </p:nvSpPr>
        <p:spPr>
          <a:xfrm>
            <a:off x="265471" y="6268858"/>
            <a:ext cx="6096000" cy="369332"/>
          </a:xfrm>
          <a:prstGeom prst="rect">
            <a:avLst/>
          </a:prstGeom>
          <a:noFill/>
        </p:spPr>
        <p:txBody>
          <a:bodyPr wrap="square">
            <a:spAutoFit/>
          </a:bodyPr>
          <a:lstStyle/>
          <a:p>
            <a:pPr>
              <a:buNone/>
            </a:pPr>
            <a:r>
              <a:rPr lang="en-US" dirty="0"/>
              <a:t>This is what we call </a:t>
            </a:r>
            <a:r>
              <a:rPr lang="en-US" b="1" dirty="0"/>
              <a:t>Accuracy Score</a:t>
            </a:r>
            <a:r>
              <a:rPr lang="en-US" dirty="0"/>
              <a:t>.</a:t>
            </a:r>
          </a:p>
        </p:txBody>
      </p:sp>
    </p:spTree>
    <p:extLst>
      <p:ext uri="{BB962C8B-B14F-4D97-AF65-F5344CB8AC3E}">
        <p14:creationId xmlns:p14="http://schemas.microsoft.com/office/powerpoint/2010/main" val="1804187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65EA20-F446-5049-EA28-B77BF1173AB5}"/>
              </a:ext>
            </a:extLst>
          </p:cNvPr>
          <p:cNvSpPr txBox="1"/>
          <p:nvPr/>
        </p:nvSpPr>
        <p:spPr>
          <a:xfrm>
            <a:off x="521110" y="560042"/>
            <a:ext cx="6096000" cy="1200329"/>
          </a:xfrm>
          <a:prstGeom prst="rect">
            <a:avLst/>
          </a:prstGeom>
          <a:noFill/>
        </p:spPr>
        <p:txBody>
          <a:bodyPr wrap="square">
            <a:spAutoFit/>
          </a:bodyPr>
          <a:lstStyle/>
          <a:p>
            <a:pPr>
              <a:buNone/>
            </a:pPr>
            <a:r>
              <a:rPr lang="en-US" b="1"/>
              <a:t>Accuracy only tells you mistakes happened 10% of the time, but it doesn't tell you:</a:t>
            </a:r>
            <a:endParaRPr lang="en-US"/>
          </a:p>
          <a:p>
            <a:pPr>
              <a:buFont typeface="Arial" panose="020B0604020202020204" pitchFamily="34" charset="0"/>
              <a:buChar char="•"/>
            </a:pPr>
            <a:r>
              <a:rPr lang="en-US"/>
              <a:t>How many Type-1 mistakes?</a:t>
            </a:r>
          </a:p>
          <a:p>
            <a:pPr>
              <a:buFont typeface="Arial" panose="020B0604020202020204" pitchFamily="34" charset="0"/>
              <a:buChar char="•"/>
            </a:pPr>
            <a:r>
              <a:rPr lang="en-US"/>
              <a:t>How many Type-2 mistakes?</a:t>
            </a:r>
            <a:endParaRPr lang="en-US" dirty="0"/>
          </a:p>
        </p:txBody>
      </p:sp>
      <p:sp>
        <p:nvSpPr>
          <p:cNvPr id="4" name="TextBox 3">
            <a:extLst>
              <a:ext uri="{FF2B5EF4-FFF2-40B4-BE49-F238E27FC236}">
                <a16:creationId xmlns:a16="http://schemas.microsoft.com/office/drawing/2014/main" id="{4465EA20-F446-5049-EA28-B77BF1173AB5}"/>
              </a:ext>
            </a:extLst>
          </p:cNvPr>
          <p:cNvSpPr txBox="1"/>
          <p:nvPr/>
        </p:nvSpPr>
        <p:spPr>
          <a:xfrm>
            <a:off x="521109" y="1997839"/>
            <a:ext cx="8652387" cy="2031325"/>
          </a:xfrm>
          <a:prstGeom prst="rect">
            <a:avLst/>
          </a:prstGeom>
          <a:noFill/>
        </p:spPr>
        <p:txBody>
          <a:bodyPr wrap="square">
            <a:spAutoFit/>
          </a:bodyPr>
          <a:lstStyle/>
          <a:p>
            <a:r>
              <a:rPr lang="en-US" b="1" dirty="0"/>
              <a:t>Example: Heart Disease Prediction</a:t>
            </a:r>
          </a:p>
          <a:p>
            <a:r>
              <a:rPr lang="en-US" b="1" dirty="0"/>
              <a:t>Mistake Type 1:</a:t>
            </a:r>
            <a:r>
              <a:rPr lang="en-US" dirty="0"/>
              <a:t> Patient HAS heart disease, but model says NO disease</a:t>
            </a:r>
          </a:p>
          <a:p>
            <a:r>
              <a:rPr lang="en-US" b="1" dirty="0"/>
              <a:t>Mistake Type 2:</a:t>
            </a:r>
            <a:r>
              <a:rPr lang="en-US" dirty="0"/>
              <a:t> Patient DOESN'T have heart disease, but model says YES disease</a:t>
            </a:r>
          </a:p>
          <a:p>
            <a:r>
              <a:rPr lang="en-US" dirty="0"/>
              <a:t>You cannot tell from accuracy alone which type of mistake the model is making more often. </a:t>
            </a:r>
            <a:r>
              <a:rPr lang="en-US" b="1" dirty="0"/>
              <a:t>Accuracy doesn't tell you the nature of mistakes.</a:t>
            </a:r>
            <a:endParaRPr lang="en-US" dirty="0"/>
          </a:p>
          <a:p>
            <a:r>
              <a:rPr lang="en-US" dirty="0"/>
              <a:t>This is where </a:t>
            </a:r>
            <a:r>
              <a:rPr lang="en-US" b="1" dirty="0"/>
              <a:t>Confusion Matrix</a:t>
            </a:r>
            <a:r>
              <a:rPr lang="en-US" dirty="0"/>
              <a:t> comes in - it solves this problem and is very useful in classification!</a:t>
            </a:r>
          </a:p>
        </p:txBody>
      </p:sp>
    </p:spTree>
    <p:extLst>
      <p:ext uri="{BB962C8B-B14F-4D97-AF65-F5344CB8AC3E}">
        <p14:creationId xmlns:p14="http://schemas.microsoft.com/office/powerpoint/2010/main" val="55351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6D33A7-2E44-B7C8-971F-9A1D3D3CD188}"/>
              </a:ext>
            </a:extLst>
          </p:cNvPr>
          <p:cNvSpPr txBox="1"/>
          <p:nvPr/>
        </p:nvSpPr>
        <p:spPr>
          <a:xfrm>
            <a:off x="196645" y="360006"/>
            <a:ext cx="6096000" cy="2308324"/>
          </a:xfrm>
          <a:prstGeom prst="rect">
            <a:avLst/>
          </a:prstGeom>
          <a:noFill/>
        </p:spPr>
        <p:txBody>
          <a:bodyPr wrap="square">
            <a:spAutoFit/>
          </a:bodyPr>
          <a:lstStyle/>
          <a:p>
            <a:pPr>
              <a:buNone/>
            </a:pPr>
            <a:r>
              <a:rPr lang="en-US" b="1" dirty="0"/>
              <a:t>Definition:</a:t>
            </a:r>
            <a:r>
              <a:rPr lang="en-US" dirty="0"/>
              <a:t> When your model says NEGATIVE (no disease) but reality is POSITIVE (disease exists)</a:t>
            </a:r>
          </a:p>
          <a:p>
            <a:pPr>
              <a:buNone/>
            </a:pPr>
            <a:r>
              <a:rPr lang="en-US" b="1" dirty="0"/>
              <a:t>Example:</a:t>
            </a:r>
            <a:r>
              <a:rPr lang="en-US" dirty="0"/>
              <a:t> Patient HAS heart disease, but model says they DON'T have heart disease</a:t>
            </a:r>
          </a:p>
          <a:p>
            <a:pPr>
              <a:buNone/>
            </a:pPr>
            <a:r>
              <a:rPr lang="en-US" b="1" dirty="0"/>
              <a:t>Remember This Always</a:t>
            </a:r>
          </a:p>
          <a:p>
            <a:pPr>
              <a:buFont typeface="Arial" panose="020B0604020202020204" pitchFamily="34" charset="0"/>
              <a:buChar char="•"/>
            </a:pPr>
            <a:r>
              <a:rPr lang="en-US" b="1" dirty="0"/>
              <a:t>False Positive = Type-1 Error</a:t>
            </a:r>
            <a:endParaRPr lang="en-US" dirty="0"/>
          </a:p>
          <a:p>
            <a:pPr>
              <a:buFont typeface="Arial" panose="020B0604020202020204" pitchFamily="34" charset="0"/>
              <a:buChar char="•"/>
            </a:pPr>
            <a:r>
              <a:rPr lang="en-US" b="1" dirty="0"/>
              <a:t>False Negative = Type-2 Error</a:t>
            </a:r>
            <a:endParaRPr lang="en-US" dirty="0"/>
          </a:p>
          <a:p>
            <a:pPr>
              <a:buNone/>
            </a:pPr>
            <a:r>
              <a:rPr lang="en-US" dirty="0"/>
              <a:t>If you remember this, you'll never be confused!</a:t>
            </a:r>
          </a:p>
        </p:txBody>
      </p:sp>
    </p:spTree>
    <p:extLst>
      <p:ext uri="{BB962C8B-B14F-4D97-AF65-F5344CB8AC3E}">
        <p14:creationId xmlns:p14="http://schemas.microsoft.com/office/powerpoint/2010/main" val="2285328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D8227-4E0C-F087-1792-75D81B738C3E}"/>
              </a:ext>
            </a:extLst>
          </p:cNvPr>
          <p:cNvSpPr txBox="1"/>
          <p:nvPr/>
        </p:nvSpPr>
        <p:spPr>
          <a:xfrm>
            <a:off x="285136" y="67021"/>
            <a:ext cx="6096000" cy="3693319"/>
          </a:xfrm>
          <a:prstGeom prst="rect">
            <a:avLst/>
          </a:prstGeom>
          <a:noFill/>
        </p:spPr>
        <p:txBody>
          <a:bodyPr wrap="square">
            <a:spAutoFit/>
          </a:bodyPr>
          <a:lstStyle/>
          <a:p>
            <a:pPr>
              <a:buNone/>
            </a:pPr>
            <a:r>
              <a:rPr lang="en-US" b="1" dirty="0"/>
              <a:t>When is Accuracy Misleading?</a:t>
            </a:r>
          </a:p>
          <a:p>
            <a:pPr>
              <a:buNone/>
            </a:pPr>
            <a:r>
              <a:rPr lang="en-US" dirty="0"/>
              <a:t>I mentioned earlier that accuracy is not always useful. Let me discuss a particular case where </a:t>
            </a:r>
            <a:r>
              <a:rPr lang="en-US" b="1" dirty="0"/>
              <a:t>accuracy is misleading</a:t>
            </a:r>
            <a:r>
              <a:rPr lang="en-US" dirty="0"/>
              <a:t> and can make you commit mistakes.</a:t>
            </a:r>
          </a:p>
          <a:p>
            <a:pPr>
              <a:buNone/>
            </a:pPr>
            <a:r>
              <a:rPr lang="en-US" b="1" dirty="0"/>
              <a:t>The Problem: Imbalanced Datasets</a:t>
            </a:r>
          </a:p>
          <a:p>
            <a:pPr>
              <a:buNone/>
            </a:pPr>
            <a:r>
              <a:rPr lang="en-US" b="1" dirty="0"/>
              <a:t>Accuracy gives bad results when you have an imbalanced dataset.</a:t>
            </a:r>
            <a:endParaRPr lang="en-US" dirty="0"/>
          </a:p>
          <a:p>
            <a:pPr>
              <a:buNone/>
            </a:pPr>
            <a:r>
              <a:rPr lang="en-US" b="1" dirty="0"/>
              <a:t>Imbalanced Dataset:</a:t>
            </a:r>
            <a:r>
              <a:rPr lang="en-US" dirty="0"/>
              <a:t> When the ratio between your classes is not balanced.</a:t>
            </a:r>
          </a:p>
          <a:p>
            <a:pPr>
              <a:buNone/>
            </a:pPr>
            <a:r>
              <a:rPr lang="en-US" b="1" dirty="0"/>
              <a:t>Example:</a:t>
            </a:r>
            <a:endParaRPr lang="en-US" dirty="0"/>
          </a:p>
          <a:p>
            <a:pPr>
              <a:buFont typeface="Arial" panose="020B0604020202020204" pitchFamily="34" charset="0"/>
              <a:buChar char="•"/>
            </a:pPr>
            <a:r>
              <a:rPr lang="en-US" dirty="0"/>
              <a:t>Class 1 (Yes): 999 data points</a:t>
            </a:r>
          </a:p>
          <a:p>
            <a:pPr>
              <a:buFont typeface="Arial" panose="020B0604020202020204" pitchFamily="34" charset="0"/>
              <a:buChar char="•"/>
            </a:pPr>
            <a:r>
              <a:rPr lang="en-US" dirty="0"/>
              <a:t>Class 0 (No): 1 data point</a:t>
            </a:r>
          </a:p>
          <a:p>
            <a:pPr>
              <a:buNone/>
            </a:pPr>
            <a:r>
              <a:rPr lang="en-US" dirty="0"/>
              <a:t>This is an imbalanced dataset.</a:t>
            </a:r>
          </a:p>
        </p:txBody>
      </p:sp>
      <p:sp>
        <p:nvSpPr>
          <p:cNvPr id="5" name="TextBox 4">
            <a:extLst>
              <a:ext uri="{FF2B5EF4-FFF2-40B4-BE49-F238E27FC236}">
                <a16:creationId xmlns:a16="http://schemas.microsoft.com/office/drawing/2014/main" id="{9ED73567-2EF7-384A-AA7B-7454CC909EC8}"/>
              </a:ext>
            </a:extLst>
          </p:cNvPr>
          <p:cNvSpPr txBox="1"/>
          <p:nvPr/>
        </p:nvSpPr>
        <p:spPr>
          <a:xfrm>
            <a:off x="471949" y="3995678"/>
            <a:ext cx="6096000" cy="2862322"/>
          </a:xfrm>
          <a:prstGeom prst="rect">
            <a:avLst/>
          </a:prstGeom>
          <a:noFill/>
        </p:spPr>
        <p:txBody>
          <a:bodyPr wrap="square">
            <a:spAutoFit/>
          </a:bodyPr>
          <a:lstStyle/>
          <a:p>
            <a:pPr>
              <a:buNone/>
            </a:pPr>
            <a:r>
              <a:rPr lang="en-US" b="1" dirty="0"/>
              <a:t>Real-World Example: Airport Terrorist Detection</a:t>
            </a:r>
          </a:p>
          <a:p>
            <a:pPr>
              <a:buNone/>
            </a:pPr>
            <a:r>
              <a:rPr lang="en-US" dirty="0"/>
              <a:t>Let's say you need to build a model for airport security that takes passenger snapshots and predicts whether they're a potential terrorist.</a:t>
            </a:r>
          </a:p>
          <a:p>
            <a:pPr>
              <a:buNone/>
            </a:pPr>
            <a:r>
              <a:rPr lang="en-US" b="1" dirty="0"/>
              <a:t>Reality:</a:t>
            </a:r>
            <a:endParaRPr lang="en-US" dirty="0"/>
          </a:p>
          <a:p>
            <a:pPr>
              <a:buFont typeface="Arial" panose="020B0604020202020204" pitchFamily="34" charset="0"/>
              <a:buChar char="•"/>
            </a:pPr>
            <a:r>
              <a:rPr lang="en-US" dirty="0"/>
              <a:t>Number of normal passengers: VERY HIGH</a:t>
            </a:r>
          </a:p>
          <a:p>
            <a:pPr>
              <a:buFont typeface="Arial" panose="020B0604020202020204" pitchFamily="34" charset="0"/>
              <a:buChar char="•"/>
            </a:pPr>
            <a:r>
              <a:rPr lang="en-US" dirty="0"/>
              <a:t>Number of terrorists: VERY LOW</a:t>
            </a:r>
          </a:p>
          <a:p>
            <a:pPr>
              <a:buFont typeface="Arial" panose="020B0604020202020204" pitchFamily="34" charset="0"/>
              <a:buChar char="•"/>
            </a:pPr>
            <a:r>
              <a:rPr lang="en-US" dirty="0"/>
              <a:t>Probably 1 terrorist in 100,000 passengers (or even more)</a:t>
            </a:r>
          </a:p>
          <a:p>
            <a:pPr>
              <a:buNone/>
            </a:pPr>
            <a:r>
              <a:rPr lang="en-US" dirty="0"/>
              <a:t>So </a:t>
            </a:r>
            <a:r>
              <a:rPr lang="en-US" b="1" dirty="0"/>
              <a:t>99,999 people are normal passengers</a:t>
            </a:r>
            <a:r>
              <a:rPr lang="en-US" dirty="0"/>
              <a:t> and </a:t>
            </a:r>
            <a:r>
              <a:rPr lang="en-US" b="1" dirty="0"/>
              <a:t>only 1 person is a terrorist</a:t>
            </a:r>
            <a:r>
              <a:rPr lang="en-US" dirty="0"/>
              <a:t>.</a:t>
            </a:r>
          </a:p>
        </p:txBody>
      </p:sp>
    </p:spTree>
    <p:extLst>
      <p:ext uri="{BB962C8B-B14F-4D97-AF65-F5344CB8AC3E}">
        <p14:creationId xmlns:p14="http://schemas.microsoft.com/office/powerpoint/2010/main" val="1938046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CF49FE-7CA0-3FF3-66A8-47018C3C12A6}"/>
              </a:ext>
            </a:extLst>
          </p:cNvPr>
          <p:cNvSpPr txBox="1"/>
          <p:nvPr/>
        </p:nvSpPr>
        <p:spPr>
          <a:xfrm>
            <a:off x="304800" y="291180"/>
            <a:ext cx="6096000" cy="2308324"/>
          </a:xfrm>
          <a:prstGeom prst="rect">
            <a:avLst/>
          </a:prstGeom>
          <a:noFill/>
        </p:spPr>
        <p:txBody>
          <a:bodyPr wrap="square">
            <a:spAutoFit/>
          </a:bodyPr>
          <a:lstStyle/>
          <a:p>
            <a:pPr>
              <a:buNone/>
            </a:pPr>
            <a:r>
              <a:rPr lang="en-US" b="1" dirty="0"/>
              <a:t>Your model has 99.99% accuracy!</a:t>
            </a:r>
            <a:r>
              <a:rPr lang="en-US" dirty="0"/>
              <a:t> Almost 100%!</a:t>
            </a:r>
          </a:p>
          <a:p>
            <a:pPr>
              <a:buNone/>
            </a:pPr>
            <a:r>
              <a:rPr lang="en-US" b="1" dirty="0"/>
              <a:t>The Problem</a:t>
            </a:r>
          </a:p>
          <a:p>
            <a:pPr>
              <a:buNone/>
            </a:pPr>
            <a:r>
              <a:rPr lang="en-US" b="1" dirty="0"/>
              <a:t>Clearly, if you rely on accuracy in such cases, you'll never get good results.</a:t>
            </a:r>
            <a:endParaRPr lang="en-US" dirty="0"/>
          </a:p>
          <a:p>
            <a:pPr>
              <a:buNone/>
            </a:pPr>
            <a:r>
              <a:rPr lang="en-US" dirty="0"/>
              <a:t>Your model is making serious mistakes (missing the one terrorist!), but accuracy shows it as nearly perfect!</a:t>
            </a:r>
          </a:p>
          <a:p>
            <a:pPr>
              <a:buNone/>
            </a:pPr>
            <a:r>
              <a:rPr lang="en-US" b="1" dirty="0"/>
              <a:t>In such imbalanced dataset scenarios, accuracy is NOT the correct metric to use.</a:t>
            </a:r>
            <a:endParaRPr lang="en-US" dirty="0"/>
          </a:p>
        </p:txBody>
      </p:sp>
      <p:sp>
        <p:nvSpPr>
          <p:cNvPr id="5" name="TextBox 4">
            <a:extLst>
              <a:ext uri="{FF2B5EF4-FFF2-40B4-BE49-F238E27FC236}">
                <a16:creationId xmlns:a16="http://schemas.microsoft.com/office/drawing/2014/main" id="{52CBB494-60BB-82BE-B1BF-9E0D3D342384}"/>
              </a:ext>
            </a:extLst>
          </p:cNvPr>
          <p:cNvSpPr txBox="1"/>
          <p:nvPr/>
        </p:nvSpPr>
        <p:spPr>
          <a:xfrm>
            <a:off x="304800" y="2847567"/>
            <a:ext cx="6096000" cy="2031325"/>
          </a:xfrm>
          <a:prstGeom prst="rect">
            <a:avLst/>
          </a:prstGeom>
          <a:noFill/>
        </p:spPr>
        <p:txBody>
          <a:bodyPr wrap="square">
            <a:spAutoFit/>
          </a:bodyPr>
          <a:lstStyle/>
          <a:p>
            <a:pPr>
              <a:buNone/>
            </a:pPr>
            <a:r>
              <a:rPr lang="en-US" b="1" dirty="0"/>
              <a:t>Solution: Precision and Recall</a:t>
            </a:r>
          </a:p>
          <a:p>
            <a:pPr>
              <a:buNone/>
            </a:pPr>
            <a:r>
              <a:rPr lang="en-US" dirty="0"/>
              <a:t>When accuracy fails (especially with imbalanced datasets), we need two new metrics:</a:t>
            </a:r>
          </a:p>
          <a:p>
            <a:pPr>
              <a:buFont typeface="+mj-lt"/>
              <a:buAutoNum type="arabicPeriod"/>
            </a:pPr>
            <a:r>
              <a:rPr lang="en-US" b="1" dirty="0"/>
              <a:t>Precision</a:t>
            </a:r>
            <a:endParaRPr lang="en-US" dirty="0"/>
          </a:p>
          <a:p>
            <a:pPr>
              <a:buFont typeface="+mj-lt"/>
              <a:buAutoNum type="arabicPeriod"/>
            </a:pPr>
            <a:r>
              <a:rPr lang="en-US" b="1" dirty="0"/>
              <a:t>Recall</a:t>
            </a:r>
            <a:endParaRPr lang="en-US" dirty="0"/>
          </a:p>
          <a:p>
            <a:pPr>
              <a:buNone/>
            </a:pPr>
            <a:r>
              <a:rPr lang="en-US" dirty="0"/>
              <a:t>These metrics will help us properly evaluate models when accuracy is misleading.</a:t>
            </a:r>
          </a:p>
        </p:txBody>
      </p:sp>
    </p:spTree>
    <p:extLst>
      <p:ext uri="{BB962C8B-B14F-4D97-AF65-F5344CB8AC3E}">
        <p14:creationId xmlns:p14="http://schemas.microsoft.com/office/powerpoint/2010/main" val="364241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C8FEF1B7-B5C2-2B26-6FDD-47DAF3A68A22}"/>
              </a:ext>
            </a:extLst>
          </p:cNvPr>
          <p:cNvSpPr>
            <a:spLocks noChangeArrowheads="1"/>
          </p:cNvSpPr>
          <p:nvPr/>
        </p:nvSpPr>
        <p:spPr bwMode="auto">
          <a:xfrm>
            <a:off x="157317" y="259988"/>
            <a:ext cx="692478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Accuracy</a:t>
            </a:r>
            <a:r>
              <a:rPr kumimoji="0" lang="en-US" altLang="en-US" sz="1800" b="0" i="0" u="none" strike="noStrike" cap="none" normalizeH="0" baseline="0" dirty="0">
                <a:ln>
                  <a:noFill/>
                </a:ln>
                <a:solidFill>
                  <a:schemeClr val="tx1"/>
                </a:solidFill>
                <a:effectLst/>
                <a:latin typeface="Arial" panose="020B0604020202020204" pitchFamily="34" charset="0"/>
              </a:rPr>
              <a:t>: The simplest classification metric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Confusion Matrix</a:t>
            </a:r>
            <a:r>
              <a:rPr kumimoji="0" lang="en-US" altLang="en-US" sz="1800" b="0" i="0" u="none" strike="noStrike" cap="none" normalizeH="0" baseline="0" dirty="0">
                <a:ln>
                  <a:noFill/>
                </a:ln>
                <a:solidFill>
                  <a:schemeClr val="tx1"/>
                </a:solidFill>
                <a:effectLst/>
                <a:latin typeface="Arial" panose="020B0604020202020204" pitchFamily="34" charset="0"/>
              </a:rPr>
              <a:t>: Shows the breakdown of prediction types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Formula: Correct Predictions / Total Predictions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Works for binary and multi-class classification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single "good" accuracy value - depends on the problem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True Positives, True Negatives, False Positives, False Negatives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understand the nature of mistakes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Can calculate accuracy FROM confusion matrix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N classes, get N×N matrix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A8CF6DB8-EC75-8488-A51C-6C6D07DBB470}"/>
              </a:ext>
            </a:extLst>
          </p:cNvPr>
          <p:cNvSpPr>
            <a:spLocks noChangeArrowheads="1"/>
          </p:cNvSpPr>
          <p:nvPr/>
        </p:nvSpPr>
        <p:spPr bwMode="auto">
          <a:xfrm rot="10800000" flipV="1">
            <a:off x="78658" y="3285951"/>
            <a:ext cx="1181837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Type-1 and Type-2 Errors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Type-1 Error = False Positive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Type-2 Error = False Negative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When Accuracy Fails</a:t>
            </a:r>
            <a:r>
              <a:rPr kumimoji="0" lang="en-US" altLang="en-US" sz="1800" b="0" i="0" u="none" strike="noStrike" cap="none" normalizeH="0" baseline="0" dirty="0">
                <a:ln>
                  <a:noFill/>
                </a:ln>
                <a:solidFill>
                  <a:schemeClr val="tx1"/>
                </a:solidFill>
                <a:effectLst/>
                <a:latin typeface="Arial" panose="020B0604020202020204" pitchFamily="34" charset="0"/>
              </a:rPr>
              <a:t>: Imbalanced datasets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Accuracy can be misleading with imbalanced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Need alternative metrics like Precision and Recall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2161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72EB97-9C5C-0966-6585-B5F82C993BA7}"/>
              </a:ext>
            </a:extLst>
          </p:cNvPr>
          <p:cNvSpPr txBox="1"/>
          <p:nvPr/>
        </p:nvSpPr>
        <p:spPr>
          <a:xfrm>
            <a:off x="344128" y="460871"/>
            <a:ext cx="9773265" cy="923330"/>
          </a:xfrm>
          <a:prstGeom prst="rect">
            <a:avLst/>
          </a:prstGeom>
          <a:noFill/>
        </p:spPr>
        <p:txBody>
          <a:bodyPr wrap="square">
            <a:spAutoFit/>
          </a:bodyPr>
          <a:lstStyle/>
          <a:p>
            <a:r>
              <a:rPr lang="en-US" dirty="0"/>
              <a:t>we covered two topics: </a:t>
            </a:r>
            <a:r>
              <a:rPr lang="en-US" b="1" dirty="0"/>
              <a:t>Accuracy</a:t>
            </a:r>
            <a:r>
              <a:rPr lang="en-US" dirty="0"/>
              <a:t> and </a:t>
            </a:r>
            <a:r>
              <a:rPr lang="en-US" b="1" dirty="0"/>
              <a:t>Confusion Matrix</a:t>
            </a:r>
            <a:r>
              <a:rPr lang="en-US" dirty="0"/>
              <a:t>. We also discussed Type-1 and Type-2 errors and explored cases where accuracy can be misleading or unreliable. We identified two additional metrics that can help when accuracy fails: </a:t>
            </a:r>
            <a:r>
              <a:rPr lang="en-US" b="1" dirty="0"/>
              <a:t>Precision</a:t>
            </a:r>
            <a:r>
              <a:rPr lang="en-US" dirty="0"/>
              <a:t> and </a:t>
            </a:r>
            <a:r>
              <a:rPr lang="en-US" b="1" dirty="0"/>
              <a:t>Recall</a:t>
            </a:r>
            <a:r>
              <a:rPr lang="en-US" dirty="0"/>
              <a:t>.</a:t>
            </a:r>
            <a:endParaRPr lang="en-IN" dirty="0"/>
          </a:p>
        </p:txBody>
      </p:sp>
      <p:sp>
        <p:nvSpPr>
          <p:cNvPr id="5" name="TextBox 4">
            <a:extLst>
              <a:ext uri="{FF2B5EF4-FFF2-40B4-BE49-F238E27FC236}">
                <a16:creationId xmlns:a16="http://schemas.microsoft.com/office/drawing/2014/main" id="{A7045D5E-0282-58D3-D94F-0151EDA88282}"/>
              </a:ext>
            </a:extLst>
          </p:cNvPr>
          <p:cNvSpPr txBox="1"/>
          <p:nvPr/>
        </p:nvSpPr>
        <p:spPr>
          <a:xfrm>
            <a:off x="245806" y="1572424"/>
            <a:ext cx="10510684" cy="3139321"/>
          </a:xfrm>
          <a:prstGeom prst="rect">
            <a:avLst/>
          </a:prstGeom>
          <a:noFill/>
        </p:spPr>
        <p:txBody>
          <a:bodyPr wrap="square">
            <a:spAutoFit/>
          </a:bodyPr>
          <a:lstStyle/>
          <a:p>
            <a:pPr>
              <a:buNone/>
            </a:pPr>
            <a:r>
              <a:rPr lang="en-US" b="1" dirty="0"/>
              <a:t>When is Accuracy Misleading?</a:t>
            </a:r>
          </a:p>
          <a:p>
            <a:pPr>
              <a:buNone/>
            </a:pPr>
            <a:r>
              <a:rPr lang="en-US" dirty="0"/>
              <a:t>Let me remind you when accuracy can fail. As discussed in the last video, if you have an </a:t>
            </a:r>
            <a:r>
              <a:rPr lang="en-US" b="1" dirty="0"/>
              <a:t>imbalanced dataset</a:t>
            </a:r>
            <a:r>
              <a:rPr lang="en-US" dirty="0"/>
              <a:t> — meaning the ratio between the two classes is significantly unbalanced (one class has many examples, the other has very few) — accuracy may not be a good metric.</a:t>
            </a:r>
          </a:p>
          <a:p>
            <a:pPr>
              <a:buNone/>
            </a:pPr>
            <a:r>
              <a:rPr lang="en-US" b="1" dirty="0"/>
              <a:t>Example: Airport Terrorist Detection</a:t>
            </a:r>
          </a:p>
          <a:p>
            <a:pPr>
              <a:buNone/>
            </a:pPr>
            <a:r>
              <a:rPr lang="en-US" dirty="0"/>
              <a:t>We had an example where we're building a model to detect terrorists at an airport using video surveillance. In our real-time data:</a:t>
            </a:r>
          </a:p>
          <a:p>
            <a:pPr>
              <a:buFont typeface="Arial" panose="020B0604020202020204" pitchFamily="34" charset="0"/>
              <a:buChar char="•"/>
            </a:pPr>
            <a:r>
              <a:rPr lang="en-US" b="1" dirty="0"/>
              <a:t>999 people</a:t>
            </a:r>
            <a:r>
              <a:rPr lang="en-US" dirty="0"/>
              <a:t> are NOT terrorists</a:t>
            </a:r>
          </a:p>
          <a:p>
            <a:pPr>
              <a:buFont typeface="Arial" panose="020B0604020202020204" pitchFamily="34" charset="0"/>
              <a:buChar char="•"/>
            </a:pPr>
            <a:r>
              <a:rPr lang="en-US" b="1" dirty="0"/>
              <a:t>1 person</a:t>
            </a:r>
            <a:r>
              <a:rPr lang="en-US" dirty="0"/>
              <a:t> IS a terrorist</a:t>
            </a:r>
          </a:p>
          <a:p>
            <a:pPr>
              <a:buNone/>
            </a:pPr>
            <a:r>
              <a:rPr lang="en-US" dirty="0"/>
              <a:t>Clearly, there's a massive imbalance between the two classes (terrorist vs. non-terrorist).</a:t>
            </a:r>
          </a:p>
          <a:p>
            <a:pPr>
              <a:buNone/>
            </a:pPr>
            <a:r>
              <a:rPr lang="en-US" dirty="0"/>
              <a:t>Now, if you build a model that simply predicts "no one is a terrorist," the confusion matrix would look like this:</a:t>
            </a:r>
          </a:p>
        </p:txBody>
      </p:sp>
      <p:graphicFrame>
        <p:nvGraphicFramePr>
          <p:cNvPr id="6" name="Table 5">
            <a:extLst>
              <a:ext uri="{FF2B5EF4-FFF2-40B4-BE49-F238E27FC236}">
                <a16:creationId xmlns:a16="http://schemas.microsoft.com/office/drawing/2014/main" id="{602DC346-A3FD-1DC7-1C1F-2DE9BE85C787}"/>
              </a:ext>
            </a:extLst>
          </p:cNvPr>
          <p:cNvGraphicFramePr>
            <a:graphicFrameLocks noGrp="1"/>
          </p:cNvGraphicFramePr>
          <p:nvPr>
            <p:extLst>
              <p:ext uri="{D42A27DB-BD31-4B8C-83A1-F6EECF244321}">
                <p14:modId xmlns:p14="http://schemas.microsoft.com/office/powerpoint/2010/main" val="3512043664"/>
              </p:ext>
            </p:extLst>
          </p:nvPr>
        </p:nvGraphicFramePr>
        <p:xfrm>
          <a:off x="344128" y="5065144"/>
          <a:ext cx="10515600" cy="1097280"/>
        </p:xfrm>
        <a:graphic>
          <a:graphicData uri="http://schemas.openxmlformats.org/drawingml/2006/table">
            <a:tbl>
              <a:tblPr/>
              <a:tblGrid>
                <a:gridCol w="3505200">
                  <a:extLst>
                    <a:ext uri="{9D8B030D-6E8A-4147-A177-3AD203B41FA5}">
                      <a16:colId xmlns:a16="http://schemas.microsoft.com/office/drawing/2014/main" val="356904695"/>
                    </a:ext>
                  </a:extLst>
                </a:gridCol>
                <a:gridCol w="3505200">
                  <a:extLst>
                    <a:ext uri="{9D8B030D-6E8A-4147-A177-3AD203B41FA5}">
                      <a16:colId xmlns:a16="http://schemas.microsoft.com/office/drawing/2014/main" val="2327700293"/>
                    </a:ext>
                  </a:extLst>
                </a:gridCol>
                <a:gridCol w="3505200">
                  <a:extLst>
                    <a:ext uri="{9D8B030D-6E8A-4147-A177-3AD203B41FA5}">
                      <a16:colId xmlns:a16="http://schemas.microsoft.com/office/drawing/2014/main" val="280042446"/>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r>
                        <a:rPr lang="en-IN" dirty="0"/>
                        <a:t>Predicted: Not Terrorist</a:t>
                      </a:r>
                    </a:p>
                  </a:txBody>
                  <a:tcPr anchor="ctr">
                    <a:lnL>
                      <a:noFill/>
                    </a:lnL>
                    <a:lnR>
                      <a:noFill/>
                    </a:lnR>
                    <a:lnT>
                      <a:noFill/>
                    </a:lnT>
                    <a:lnB>
                      <a:noFill/>
                    </a:lnB>
                    <a:noFill/>
                  </a:tcPr>
                </a:tc>
                <a:tc>
                  <a:txBody>
                    <a:bodyPr/>
                    <a:lstStyle/>
                    <a:p>
                      <a:pPr>
                        <a:buNone/>
                      </a:pPr>
                      <a:r>
                        <a:rPr lang="en-IN" dirty="0"/>
                        <a:t>Predicted: Terrorist</a:t>
                      </a:r>
                    </a:p>
                  </a:txBody>
                  <a:tcPr anchor="ctr">
                    <a:lnL>
                      <a:noFill/>
                    </a:lnL>
                    <a:lnR>
                      <a:noFill/>
                    </a:lnR>
                    <a:lnT>
                      <a:noFill/>
                    </a:lnT>
                    <a:lnB>
                      <a:noFill/>
                    </a:lnB>
                    <a:noFill/>
                  </a:tcPr>
                </a:tc>
                <a:extLst>
                  <a:ext uri="{0D108BD9-81ED-4DB2-BD59-A6C34878D82A}">
                    <a16:rowId xmlns:a16="http://schemas.microsoft.com/office/drawing/2014/main" val="2995673944"/>
                  </a:ext>
                </a:extLst>
              </a:tr>
              <a:tr h="0">
                <a:tc>
                  <a:txBody>
                    <a:bodyPr/>
                    <a:lstStyle/>
                    <a:p>
                      <a:pPr>
                        <a:buNone/>
                      </a:pPr>
                      <a:r>
                        <a:rPr lang="en-IN" b="1"/>
                        <a:t>Actual: Terrorist</a:t>
                      </a:r>
                      <a:endParaRPr lang="en-IN"/>
                    </a:p>
                  </a:txBody>
                  <a:tcPr anchor="ctr">
                    <a:lnL>
                      <a:noFill/>
                    </a:lnL>
                    <a:lnR>
                      <a:noFill/>
                    </a:lnR>
                    <a:lnT>
                      <a:noFill/>
                    </a:lnT>
                    <a:lnB>
                      <a:noFill/>
                    </a:lnB>
                    <a:noFill/>
                  </a:tcPr>
                </a:tc>
                <a:tc>
                  <a:txBody>
                    <a:bodyPr/>
                    <a:lstStyle/>
                    <a:p>
                      <a:pPr>
                        <a:buNone/>
                      </a:pPr>
                      <a:r>
                        <a:rPr lang="en-IN" dirty="0"/>
                        <a:t>1 (False Negative)</a:t>
                      </a:r>
                    </a:p>
                  </a:txBody>
                  <a:tcPr anchor="ctr">
                    <a:lnL>
                      <a:noFill/>
                    </a:lnL>
                    <a:lnR>
                      <a:noFill/>
                    </a:lnR>
                    <a:lnT>
                      <a:noFill/>
                    </a:lnT>
                    <a:lnB>
                      <a:noFill/>
                    </a:lnB>
                    <a:noFill/>
                  </a:tcPr>
                </a:tc>
                <a:tc>
                  <a:txBody>
                    <a:bodyPr/>
                    <a:lstStyle/>
                    <a:p>
                      <a:pPr>
                        <a:buNone/>
                      </a:pPr>
                      <a:r>
                        <a:rPr lang="en-IN"/>
                        <a:t>0 (True Positive)</a:t>
                      </a:r>
                    </a:p>
                  </a:txBody>
                  <a:tcPr anchor="ctr">
                    <a:lnL>
                      <a:noFill/>
                    </a:lnL>
                    <a:lnR>
                      <a:noFill/>
                    </a:lnR>
                    <a:lnT>
                      <a:noFill/>
                    </a:lnT>
                    <a:lnB>
                      <a:noFill/>
                    </a:lnB>
                    <a:noFill/>
                  </a:tcPr>
                </a:tc>
                <a:extLst>
                  <a:ext uri="{0D108BD9-81ED-4DB2-BD59-A6C34878D82A}">
                    <a16:rowId xmlns:a16="http://schemas.microsoft.com/office/drawing/2014/main" val="985381930"/>
                  </a:ext>
                </a:extLst>
              </a:tr>
              <a:tr h="0">
                <a:tc>
                  <a:txBody>
                    <a:bodyPr/>
                    <a:lstStyle/>
                    <a:p>
                      <a:pPr>
                        <a:buNone/>
                      </a:pPr>
                      <a:r>
                        <a:rPr lang="en-IN" b="1"/>
                        <a:t>Actual: Not Terrorist</a:t>
                      </a:r>
                      <a:endParaRPr lang="en-IN"/>
                    </a:p>
                  </a:txBody>
                  <a:tcPr anchor="ctr">
                    <a:lnL>
                      <a:noFill/>
                    </a:lnL>
                    <a:lnR>
                      <a:noFill/>
                    </a:lnR>
                    <a:lnT>
                      <a:noFill/>
                    </a:lnT>
                    <a:lnB>
                      <a:noFill/>
                    </a:lnB>
                    <a:noFill/>
                  </a:tcPr>
                </a:tc>
                <a:tc>
                  <a:txBody>
                    <a:bodyPr/>
                    <a:lstStyle/>
                    <a:p>
                      <a:pPr>
                        <a:buNone/>
                      </a:pPr>
                      <a:r>
                        <a:rPr lang="en-IN"/>
                        <a:t>999 (True Negative)</a:t>
                      </a:r>
                    </a:p>
                  </a:txBody>
                  <a:tcPr anchor="ctr">
                    <a:lnL>
                      <a:noFill/>
                    </a:lnL>
                    <a:lnR>
                      <a:noFill/>
                    </a:lnR>
                    <a:lnT>
                      <a:noFill/>
                    </a:lnT>
                    <a:lnB>
                      <a:noFill/>
                    </a:lnB>
                    <a:noFill/>
                  </a:tcPr>
                </a:tc>
                <a:tc>
                  <a:txBody>
                    <a:bodyPr/>
                    <a:lstStyle/>
                    <a:p>
                      <a:pPr>
                        <a:buNone/>
                      </a:pPr>
                      <a:r>
                        <a:rPr lang="en-IN" dirty="0"/>
                        <a:t>0 (False Positive)</a:t>
                      </a:r>
                    </a:p>
                  </a:txBody>
                  <a:tcPr anchor="ctr">
                    <a:lnL>
                      <a:noFill/>
                    </a:lnL>
                    <a:lnR>
                      <a:noFill/>
                    </a:lnR>
                    <a:lnT>
                      <a:noFill/>
                    </a:lnT>
                    <a:lnB>
                      <a:noFill/>
                    </a:lnB>
                    <a:noFill/>
                  </a:tcPr>
                </a:tc>
                <a:extLst>
                  <a:ext uri="{0D108BD9-81ED-4DB2-BD59-A6C34878D82A}">
                    <a16:rowId xmlns:a16="http://schemas.microsoft.com/office/drawing/2014/main" val="3115994817"/>
                  </a:ext>
                </a:extLst>
              </a:tr>
            </a:tbl>
          </a:graphicData>
        </a:graphic>
      </p:graphicFrame>
    </p:spTree>
    <p:extLst>
      <p:ext uri="{BB962C8B-B14F-4D97-AF65-F5344CB8AC3E}">
        <p14:creationId xmlns:p14="http://schemas.microsoft.com/office/powerpoint/2010/main" val="1376109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FDB4A3-B16D-F412-4743-216070CD2C77}"/>
              </a:ext>
            </a:extLst>
          </p:cNvPr>
          <p:cNvSpPr txBox="1"/>
          <p:nvPr/>
        </p:nvSpPr>
        <p:spPr>
          <a:xfrm>
            <a:off x="373625" y="292028"/>
            <a:ext cx="6096000" cy="2031325"/>
          </a:xfrm>
          <a:prstGeom prst="rect">
            <a:avLst/>
          </a:prstGeom>
          <a:noFill/>
        </p:spPr>
        <p:txBody>
          <a:bodyPr wrap="square">
            <a:spAutoFit/>
          </a:bodyPr>
          <a:lstStyle/>
          <a:p>
            <a:pPr>
              <a:buNone/>
            </a:pPr>
            <a:r>
              <a:rPr lang="en-US" b="1"/>
              <a:t>Accuracy calculation:</a:t>
            </a:r>
            <a:endParaRPr lang="en-US"/>
          </a:p>
          <a:p>
            <a:pPr>
              <a:buFont typeface="Arial" panose="020B0604020202020204" pitchFamily="34" charset="0"/>
              <a:buChar char="•"/>
            </a:pPr>
            <a:r>
              <a:rPr lang="en-US"/>
              <a:t>True Negatives = 999</a:t>
            </a:r>
          </a:p>
          <a:p>
            <a:pPr>
              <a:buFont typeface="Arial" panose="020B0604020202020204" pitchFamily="34" charset="0"/>
              <a:buChar char="•"/>
            </a:pPr>
            <a:r>
              <a:rPr lang="en-US"/>
              <a:t>Total = 1000</a:t>
            </a:r>
          </a:p>
          <a:p>
            <a:pPr>
              <a:buFont typeface="Arial" panose="020B0604020202020204" pitchFamily="34" charset="0"/>
              <a:buChar char="•"/>
            </a:pPr>
            <a:r>
              <a:rPr lang="en-US"/>
              <a:t>Accuracy = 999/1000 = </a:t>
            </a:r>
            <a:r>
              <a:rPr lang="en-US" b="1"/>
              <a:t>99.9%</a:t>
            </a:r>
            <a:endParaRPr lang="en-US"/>
          </a:p>
          <a:p>
            <a:pPr>
              <a:buNone/>
            </a:pPr>
            <a:r>
              <a:rPr lang="en-US"/>
              <a:t>Clearly, accuracy is failing here. This is NOT a smart or ideal metric. So what's the solution?</a:t>
            </a:r>
          </a:p>
          <a:p>
            <a:pPr>
              <a:buNone/>
            </a:pPr>
            <a:r>
              <a:rPr lang="en-US"/>
              <a:t>You can use </a:t>
            </a:r>
            <a:r>
              <a:rPr lang="en-US" b="1"/>
              <a:t>Precision</a:t>
            </a:r>
            <a:r>
              <a:rPr lang="en-US"/>
              <a:t> or </a:t>
            </a:r>
            <a:r>
              <a:rPr lang="en-US" b="1"/>
              <a:t>Recall</a:t>
            </a:r>
            <a:r>
              <a:rPr lang="en-US"/>
              <a:t>.</a:t>
            </a:r>
            <a:endParaRPr lang="en-US" dirty="0"/>
          </a:p>
        </p:txBody>
      </p:sp>
      <p:sp>
        <p:nvSpPr>
          <p:cNvPr id="5" name="TextBox 4">
            <a:extLst>
              <a:ext uri="{FF2B5EF4-FFF2-40B4-BE49-F238E27FC236}">
                <a16:creationId xmlns:a16="http://schemas.microsoft.com/office/drawing/2014/main" id="{448FC53A-9193-A610-7FD0-CA7B398A9BD3}"/>
              </a:ext>
            </a:extLst>
          </p:cNvPr>
          <p:cNvSpPr txBox="1"/>
          <p:nvPr/>
        </p:nvSpPr>
        <p:spPr>
          <a:xfrm>
            <a:off x="373625" y="2532087"/>
            <a:ext cx="6096000" cy="2585323"/>
          </a:xfrm>
          <a:prstGeom prst="rect">
            <a:avLst/>
          </a:prstGeom>
          <a:noFill/>
        </p:spPr>
        <p:txBody>
          <a:bodyPr wrap="square">
            <a:spAutoFit/>
          </a:bodyPr>
          <a:lstStyle/>
          <a:p>
            <a:pPr>
              <a:buNone/>
            </a:pPr>
            <a:r>
              <a:rPr lang="en-US" b="1" dirty="0"/>
              <a:t>Precision</a:t>
            </a:r>
          </a:p>
          <a:p>
            <a:pPr>
              <a:buNone/>
            </a:pPr>
            <a:r>
              <a:rPr lang="en-US" b="1" dirty="0"/>
              <a:t>Understanding Precision Through an Example</a:t>
            </a:r>
          </a:p>
          <a:p>
            <a:pPr>
              <a:buNone/>
            </a:pPr>
            <a:r>
              <a:rPr lang="en-US" dirty="0"/>
              <a:t>Let's say you're a manager at a company and you've given two junior team members a project: build an email spam classifier. You tell them that whichever model performs better will be deployed on your website (like Gmail).</a:t>
            </a:r>
          </a:p>
          <a:p>
            <a:pPr>
              <a:buNone/>
            </a:pPr>
            <a:r>
              <a:rPr lang="en-US" dirty="0"/>
              <a:t>Both juniors build their models:</a:t>
            </a:r>
          </a:p>
          <a:p>
            <a:pPr>
              <a:buFont typeface="Arial" panose="020B0604020202020204" pitchFamily="34" charset="0"/>
              <a:buChar char="•"/>
            </a:pPr>
            <a:r>
              <a:rPr lang="en-US" b="1" dirty="0"/>
              <a:t>Model A</a:t>
            </a:r>
            <a:r>
              <a:rPr lang="en-US" dirty="0"/>
              <a:t> has this confusion matrix</a:t>
            </a:r>
          </a:p>
          <a:p>
            <a:pPr>
              <a:buFont typeface="Arial" panose="020B0604020202020204" pitchFamily="34" charset="0"/>
              <a:buChar char="•"/>
            </a:pPr>
            <a:r>
              <a:rPr lang="en-US" b="1" dirty="0"/>
              <a:t>Model B</a:t>
            </a:r>
            <a:r>
              <a:rPr lang="en-US" dirty="0"/>
              <a:t> has this confusion matrix</a:t>
            </a:r>
          </a:p>
        </p:txBody>
      </p:sp>
    </p:spTree>
    <p:extLst>
      <p:ext uri="{BB962C8B-B14F-4D97-AF65-F5344CB8AC3E}">
        <p14:creationId xmlns:p14="http://schemas.microsoft.com/office/powerpoint/2010/main" val="169791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BCA0BB-3358-7B6F-CC09-0BE4AA51A311}"/>
              </a:ext>
            </a:extLst>
          </p:cNvPr>
          <p:cNvSpPr txBox="1"/>
          <p:nvPr/>
        </p:nvSpPr>
        <p:spPr>
          <a:xfrm>
            <a:off x="501445" y="348478"/>
            <a:ext cx="6096000" cy="2862322"/>
          </a:xfrm>
          <a:prstGeom prst="rect">
            <a:avLst/>
          </a:prstGeom>
          <a:noFill/>
        </p:spPr>
        <p:txBody>
          <a:bodyPr wrap="square">
            <a:spAutoFit/>
          </a:bodyPr>
          <a:lstStyle/>
          <a:p>
            <a:pPr>
              <a:buNone/>
            </a:pPr>
            <a:r>
              <a:rPr lang="en-US" dirty="0"/>
              <a:t>Your job is to select one model. Pause the video and try to decide which model you would deploy.</a:t>
            </a:r>
          </a:p>
          <a:p>
            <a:pPr>
              <a:buNone/>
            </a:pPr>
            <a:r>
              <a:rPr lang="en-US" b="1" dirty="0"/>
              <a:t>Analyzing the Models</a:t>
            </a:r>
          </a:p>
          <a:p>
            <a:pPr>
              <a:buNone/>
            </a:pPr>
            <a:r>
              <a:rPr lang="en-US" dirty="0"/>
              <a:t>If you calculate accuracy for both models:</a:t>
            </a:r>
          </a:p>
          <a:p>
            <a:pPr>
              <a:buFont typeface="Arial" panose="020B0604020202020204" pitchFamily="34" charset="0"/>
              <a:buChar char="•"/>
            </a:pPr>
            <a:r>
              <a:rPr lang="en-US" dirty="0"/>
              <a:t>Diagonal elements sum to the same value in both cases</a:t>
            </a:r>
          </a:p>
          <a:p>
            <a:pPr>
              <a:buFont typeface="Arial" panose="020B0604020202020204" pitchFamily="34" charset="0"/>
              <a:buChar char="•"/>
            </a:pPr>
            <a:r>
              <a:rPr lang="en-US" dirty="0"/>
              <a:t>Total is 1000 for both</a:t>
            </a:r>
          </a:p>
          <a:p>
            <a:pPr>
              <a:buFont typeface="Arial" panose="020B0604020202020204" pitchFamily="34" charset="0"/>
              <a:buChar char="•"/>
            </a:pPr>
            <a:r>
              <a:rPr lang="en-US" b="1" dirty="0"/>
              <a:t>Both models have 80% accuracy</a:t>
            </a:r>
            <a:endParaRPr lang="en-US" dirty="0"/>
          </a:p>
          <a:p>
            <a:pPr>
              <a:buNone/>
            </a:pPr>
            <a:r>
              <a:rPr lang="en-US" dirty="0"/>
              <a:t>So you </a:t>
            </a:r>
            <a:r>
              <a:rPr lang="en-US" b="1" dirty="0"/>
              <a:t>cannot differentiate based on accuracy alone</a:t>
            </a:r>
            <a:r>
              <a:rPr lang="en-US" dirty="0"/>
              <a:t>.</a:t>
            </a:r>
          </a:p>
          <a:p>
            <a:pPr>
              <a:buNone/>
            </a:pPr>
            <a:r>
              <a:rPr lang="en-US" dirty="0"/>
              <a:t>Now, what can you use to differentiate? You can use </a:t>
            </a:r>
            <a:r>
              <a:rPr lang="en-US" b="1" dirty="0"/>
              <a:t>Type-1 error</a:t>
            </a:r>
            <a:r>
              <a:rPr lang="en-US" dirty="0"/>
              <a:t> or </a:t>
            </a:r>
            <a:r>
              <a:rPr lang="en-US" b="1" dirty="0"/>
              <a:t>Type-2 error</a:t>
            </a:r>
            <a:r>
              <a:rPr lang="en-US" dirty="0"/>
              <a:t> (False Positive or False Negative).</a:t>
            </a:r>
          </a:p>
        </p:txBody>
      </p:sp>
      <p:sp>
        <p:nvSpPr>
          <p:cNvPr id="5" name="TextBox 4">
            <a:extLst>
              <a:ext uri="{FF2B5EF4-FFF2-40B4-BE49-F238E27FC236}">
                <a16:creationId xmlns:a16="http://schemas.microsoft.com/office/drawing/2014/main" id="{5C97B1DD-8060-79BA-787C-21070FD7F704}"/>
              </a:ext>
            </a:extLst>
          </p:cNvPr>
          <p:cNvSpPr txBox="1"/>
          <p:nvPr/>
        </p:nvSpPr>
        <p:spPr>
          <a:xfrm>
            <a:off x="275303" y="3429000"/>
            <a:ext cx="6096000" cy="2862322"/>
          </a:xfrm>
          <a:prstGeom prst="rect">
            <a:avLst/>
          </a:prstGeom>
          <a:noFill/>
        </p:spPr>
        <p:txBody>
          <a:bodyPr wrap="square">
            <a:spAutoFit/>
          </a:bodyPr>
          <a:lstStyle/>
          <a:p>
            <a:pPr>
              <a:buNone/>
            </a:pPr>
            <a:r>
              <a:rPr lang="en-US" dirty="0"/>
              <a:t>Looking at the differences:</a:t>
            </a:r>
          </a:p>
          <a:p>
            <a:pPr>
              <a:buFont typeface="Arial" panose="020B0604020202020204" pitchFamily="34" charset="0"/>
              <a:buChar char="•"/>
            </a:pPr>
            <a:r>
              <a:rPr lang="en-US" b="1" dirty="0"/>
              <a:t>False Positive of Model A &gt; False Positive of Model B</a:t>
            </a:r>
            <a:endParaRPr lang="en-US" dirty="0"/>
          </a:p>
          <a:p>
            <a:pPr>
              <a:buFont typeface="Arial" panose="020B0604020202020204" pitchFamily="34" charset="0"/>
              <a:buChar char="•"/>
            </a:pPr>
            <a:r>
              <a:rPr lang="en-US" b="1" dirty="0"/>
              <a:t>False Negative of Model B &gt; False Negative of Model A</a:t>
            </a:r>
            <a:endParaRPr lang="en-US" dirty="0"/>
          </a:p>
          <a:p>
            <a:pPr>
              <a:buNone/>
            </a:pPr>
            <a:r>
              <a:rPr lang="en-US" b="1" dirty="0"/>
              <a:t>Understanding the Errors in Context</a:t>
            </a:r>
          </a:p>
          <a:p>
            <a:pPr>
              <a:buNone/>
            </a:pPr>
            <a:r>
              <a:rPr lang="en-US" dirty="0"/>
              <a:t>Let's discuss what these errors mean for this spam detection problem:</a:t>
            </a:r>
          </a:p>
          <a:p>
            <a:pPr>
              <a:buFont typeface="Arial" panose="020B0604020202020204" pitchFamily="34" charset="0"/>
              <a:buChar char="•"/>
            </a:pPr>
            <a:r>
              <a:rPr lang="en-US" b="1" dirty="0"/>
              <a:t>False Positive</a:t>
            </a:r>
            <a:r>
              <a:rPr lang="en-US" dirty="0"/>
              <a:t>: An email that was NOT spam, but our model classified it as spam</a:t>
            </a:r>
          </a:p>
          <a:p>
            <a:pPr>
              <a:buFont typeface="Arial" panose="020B0604020202020204" pitchFamily="34" charset="0"/>
              <a:buChar char="•"/>
            </a:pPr>
            <a:r>
              <a:rPr lang="en-US" b="1" dirty="0"/>
              <a:t>False Negative</a:t>
            </a:r>
            <a:r>
              <a:rPr lang="en-US" dirty="0"/>
              <a:t>: An email that WAS spam, but our model said it was NOT spam</a:t>
            </a:r>
          </a:p>
        </p:txBody>
      </p:sp>
    </p:spTree>
    <p:extLst>
      <p:ext uri="{BB962C8B-B14F-4D97-AF65-F5344CB8AC3E}">
        <p14:creationId xmlns:p14="http://schemas.microsoft.com/office/powerpoint/2010/main" val="2710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323271-4A35-6F65-EEEA-75685ECEAE00}"/>
              </a:ext>
            </a:extLst>
          </p:cNvPr>
          <p:cNvSpPr txBox="1"/>
          <p:nvPr/>
        </p:nvSpPr>
        <p:spPr>
          <a:xfrm>
            <a:off x="314633" y="280500"/>
            <a:ext cx="6096000" cy="2585323"/>
          </a:xfrm>
          <a:prstGeom prst="rect">
            <a:avLst/>
          </a:prstGeom>
          <a:noFill/>
        </p:spPr>
        <p:txBody>
          <a:bodyPr wrap="square">
            <a:spAutoFit/>
          </a:bodyPr>
          <a:lstStyle/>
          <a:p>
            <a:pPr>
              <a:buNone/>
            </a:pPr>
            <a:r>
              <a:rPr lang="en-US" dirty="0"/>
              <a:t>Which error is more dangerous?</a:t>
            </a:r>
          </a:p>
          <a:p>
            <a:pPr>
              <a:buNone/>
            </a:pPr>
            <a:r>
              <a:rPr lang="en-US" b="1" dirty="0"/>
              <a:t>Example scenario:</a:t>
            </a:r>
            <a:r>
              <a:rPr lang="en-US" dirty="0"/>
              <a:t> You got a placement offer and the company sent you an email saying "reply to this email to confirm your placement." If that email goes to spam (when it's not spam), you lose your job opportunity!</a:t>
            </a:r>
          </a:p>
          <a:p>
            <a:pPr>
              <a:buNone/>
            </a:pPr>
            <a:r>
              <a:rPr lang="en-US" dirty="0"/>
              <a:t>Clearly, </a:t>
            </a:r>
            <a:r>
              <a:rPr lang="en-US" b="1" dirty="0"/>
              <a:t>False Positive is the more dangerous error</a:t>
            </a:r>
            <a:r>
              <a:rPr lang="en-US" dirty="0"/>
              <a:t> in this case.</a:t>
            </a:r>
          </a:p>
          <a:p>
            <a:pPr>
              <a:buNone/>
            </a:pPr>
            <a:r>
              <a:rPr lang="en-US" dirty="0"/>
              <a:t>Therefore, we should select the model that makes </a:t>
            </a:r>
            <a:r>
              <a:rPr lang="en-US" b="1" dirty="0"/>
              <a:t>fewer False Positive errors</a:t>
            </a:r>
            <a:r>
              <a:rPr lang="en-US" dirty="0"/>
              <a:t>. Between the two models, </a:t>
            </a:r>
            <a:r>
              <a:rPr lang="en-US" b="1" dirty="0"/>
              <a:t>Model B</a:t>
            </a:r>
            <a:r>
              <a:rPr lang="en-US" dirty="0"/>
              <a:t> makes fewer False Positive errors, so we would deploy </a:t>
            </a:r>
            <a:r>
              <a:rPr lang="en-US" b="1" dirty="0"/>
              <a:t>Model B</a:t>
            </a:r>
            <a:r>
              <a:rPr lang="en-US" dirty="0"/>
              <a:t>.</a:t>
            </a:r>
          </a:p>
        </p:txBody>
      </p:sp>
      <p:sp>
        <p:nvSpPr>
          <p:cNvPr id="5" name="TextBox 4">
            <a:extLst>
              <a:ext uri="{FF2B5EF4-FFF2-40B4-BE49-F238E27FC236}">
                <a16:creationId xmlns:a16="http://schemas.microsoft.com/office/drawing/2014/main" id="{1D7F259A-6144-A9D3-BDB4-EA5724875D13}"/>
              </a:ext>
            </a:extLst>
          </p:cNvPr>
          <p:cNvSpPr txBox="1"/>
          <p:nvPr/>
        </p:nvSpPr>
        <p:spPr>
          <a:xfrm>
            <a:off x="314633" y="2977930"/>
            <a:ext cx="6096000" cy="1477328"/>
          </a:xfrm>
          <a:prstGeom prst="rect">
            <a:avLst/>
          </a:prstGeom>
          <a:noFill/>
        </p:spPr>
        <p:txBody>
          <a:bodyPr wrap="square">
            <a:spAutoFit/>
          </a:bodyPr>
          <a:lstStyle/>
          <a:p>
            <a:pPr>
              <a:buNone/>
            </a:pPr>
            <a:r>
              <a:rPr lang="en-US" b="1" dirty="0"/>
              <a:t>Definition of Precision</a:t>
            </a:r>
          </a:p>
          <a:p>
            <a:pPr>
              <a:buNone/>
            </a:pPr>
            <a:r>
              <a:rPr lang="en-US" b="1" dirty="0"/>
              <a:t>Precision</a:t>
            </a:r>
            <a:r>
              <a:rPr lang="en-US" dirty="0"/>
              <a:t> is defined as:</a:t>
            </a:r>
          </a:p>
          <a:p>
            <a:pPr>
              <a:buNone/>
            </a:pPr>
            <a:r>
              <a:rPr lang="en-US" b="1" dirty="0"/>
              <a:t>What proportion of predicted positives are truly positive?</a:t>
            </a:r>
            <a:endParaRPr lang="en-US" dirty="0"/>
          </a:p>
          <a:p>
            <a:pPr>
              <a:buNone/>
            </a:pPr>
            <a:r>
              <a:rPr lang="en-US" dirty="0"/>
              <a:t>In other words: Of all the items you predicted as positive, how many are actually positive?</a:t>
            </a:r>
          </a:p>
        </p:txBody>
      </p:sp>
      <p:sp>
        <p:nvSpPr>
          <p:cNvPr id="6" name="Rectangle 1">
            <a:extLst>
              <a:ext uri="{FF2B5EF4-FFF2-40B4-BE49-F238E27FC236}">
                <a16:creationId xmlns:a16="http://schemas.microsoft.com/office/drawing/2014/main" id="{9DA7A1ED-5AAA-A27E-6A88-45E540DE070E}"/>
              </a:ext>
            </a:extLst>
          </p:cNvPr>
          <p:cNvSpPr>
            <a:spLocks noChangeArrowheads="1"/>
          </p:cNvSpPr>
          <p:nvPr/>
        </p:nvSpPr>
        <p:spPr bwMode="auto">
          <a:xfrm>
            <a:off x="314633" y="456736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Formula:</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133927F3-DC7D-F2EC-FF30-CBFDA50320D3}"/>
              </a:ext>
            </a:extLst>
          </p:cNvPr>
          <p:cNvSpPr txBox="1"/>
          <p:nvPr/>
        </p:nvSpPr>
        <p:spPr>
          <a:xfrm>
            <a:off x="235975" y="5136672"/>
            <a:ext cx="6253316" cy="369332"/>
          </a:xfrm>
          <a:prstGeom prst="rect">
            <a:avLst/>
          </a:prstGeom>
          <a:noFill/>
        </p:spPr>
        <p:txBody>
          <a:bodyPr wrap="square">
            <a:spAutoFit/>
          </a:bodyPr>
          <a:lstStyle/>
          <a:p>
            <a:r>
              <a:rPr lang="en-IN" dirty="0"/>
              <a:t>Precision = True Positives / (True Positives + False Positives)</a:t>
            </a:r>
          </a:p>
        </p:txBody>
      </p:sp>
      <p:sp>
        <p:nvSpPr>
          <p:cNvPr id="10" name="TextBox 9">
            <a:extLst>
              <a:ext uri="{FF2B5EF4-FFF2-40B4-BE49-F238E27FC236}">
                <a16:creationId xmlns:a16="http://schemas.microsoft.com/office/drawing/2014/main" id="{999BB8E7-4279-6C04-D117-DC33A596B023}"/>
              </a:ext>
            </a:extLst>
          </p:cNvPr>
          <p:cNvSpPr txBox="1"/>
          <p:nvPr/>
        </p:nvSpPr>
        <p:spPr>
          <a:xfrm>
            <a:off x="157317" y="5618111"/>
            <a:ext cx="6253316" cy="646331"/>
          </a:xfrm>
          <a:prstGeom prst="rect">
            <a:avLst/>
          </a:prstGeom>
          <a:noFill/>
        </p:spPr>
        <p:txBody>
          <a:bodyPr wrap="square">
            <a:spAutoFit/>
          </a:bodyPr>
          <a:lstStyle/>
          <a:p>
            <a:pPr>
              <a:buNone/>
            </a:pPr>
            <a:r>
              <a:rPr lang="en-US" dirty="0"/>
              <a:t>This tells you: Of all the things you called positive, how many were genuinely positive?</a:t>
            </a:r>
          </a:p>
        </p:txBody>
      </p:sp>
    </p:spTree>
    <p:extLst>
      <p:ext uri="{BB962C8B-B14F-4D97-AF65-F5344CB8AC3E}">
        <p14:creationId xmlns:p14="http://schemas.microsoft.com/office/powerpoint/2010/main" val="3277979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F11040-3639-5EA5-B479-A6958B832F7A}"/>
              </a:ext>
            </a:extLst>
          </p:cNvPr>
          <p:cNvSpPr txBox="1"/>
          <p:nvPr/>
        </p:nvSpPr>
        <p:spPr>
          <a:xfrm>
            <a:off x="471949" y="231340"/>
            <a:ext cx="6096000" cy="2585323"/>
          </a:xfrm>
          <a:prstGeom prst="rect">
            <a:avLst/>
          </a:prstGeom>
          <a:noFill/>
        </p:spPr>
        <p:txBody>
          <a:bodyPr wrap="square">
            <a:spAutoFit/>
          </a:bodyPr>
          <a:lstStyle/>
          <a:p>
            <a:pPr>
              <a:buNone/>
            </a:pPr>
            <a:r>
              <a:rPr lang="en-IN" b="1" dirty="0"/>
              <a:t>Calculating Precision for Our Models</a:t>
            </a:r>
          </a:p>
          <a:p>
            <a:pPr>
              <a:buNone/>
            </a:pPr>
            <a:r>
              <a:rPr lang="en-IN" b="1" dirty="0"/>
              <a:t>Model A:</a:t>
            </a:r>
            <a:endParaRPr lang="en-IN" dirty="0"/>
          </a:p>
          <a:p>
            <a:pPr>
              <a:buFont typeface="Arial" panose="020B0604020202020204" pitchFamily="34" charset="0"/>
              <a:buChar char="•"/>
            </a:pPr>
            <a:r>
              <a:rPr lang="en-IN" dirty="0"/>
              <a:t>True Positives = 100</a:t>
            </a:r>
          </a:p>
          <a:p>
            <a:pPr>
              <a:buFont typeface="Arial" panose="020B0604020202020204" pitchFamily="34" charset="0"/>
              <a:buChar char="•"/>
            </a:pPr>
            <a:r>
              <a:rPr lang="en-IN" dirty="0"/>
              <a:t>False Positives = 20</a:t>
            </a:r>
          </a:p>
          <a:p>
            <a:pPr>
              <a:buFont typeface="Arial" panose="020B0604020202020204" pitchFamily="34" charset="0"/>
              <a:buChar char="•"/>
            </a:pPr>
            <a:r>
              <a:rPr lang="en-IN" dirty="0"/>
              <a:t>Precision = 100 / (100 + 20) = 100/120 = 0.83</a:t>
            </a:r>
          </a:p>
          <a:p>
            <a:pPr>
              <a:buNone/>
            </a:pPr>
            <a:r>
              <a:rPr lang="en-IN" b="1" dirty="0"/>
              <a:t>Model B:</a:t>
            </a:r>
            <a:endParaRPr lang="en-IN" dirty="0"/>
          </a:p>
          <a:p>
            <a:pPr>
              <a:buFont typeface="Arial" panose="020B0604020202020204" pitchFamily="34" charset="0"/>
              <a:buChar char="•"/>
            </a:pPr>
            <a:r>
              <a:rPr lang="en-IN" dirty="0"/>
              <a:t>True Positives = 100</a:t>
            </a:r>
          </a:p>
          <a:p>
            <a:pPr>
              <a:buFont typeface="Arial" panose="020B0604020202020204" pitchFamily="34" charset="0"/>
              <a:buChar char="•"/>
            </a:pPr>
            <a:r>
              <a:rPr lang="en-IN" dirty="0"/>
              <a:t>False Positives = 10</a:t>
            </a:r>
          </a:p>
          <a:p>
            <a:pPr>
              <a:buFont typeface="Arial" panose="020B0604020202020204" pitchFamily="34" charset="0"/>
              <a:buChar char="•"/>
            </a:pPr>
            <a:r>
              <a:rPr lang="en-IN" dirty="0"/>
              <a:t>Precision = 100 / (100 + 10) = 100/110 = 0.91</a:t>
            </a:r>
          </a:p>
        </p:txBody>
      </p:sp>
      <p:sp>
        <p:nvSpPr>
          <p:cNvPr id="5" name="TextBox 4">
            <a:extLst>
              <a:ext uri="{FF2B5EF4-FFF2-40B4-BE49-F238E27FC236}">
                <a16:creationId xmlns:a16="http://schemas.microsoft.com/office/drawing/2014/main" id="{DA32973D-F3EB-9160-115E-25E6759108C2}"/>
              </a:ext>
            </a:extLst>
          </p:cNvPr>
          <p:cNvSpPr txBox="1"/>
          <p:nvPr/>
        </p:nvSpPr>
        <p:spPr>
          <a:xfrm>
            <a:off x="353962" y="3155758"/>
            <a:ext cx="6096000" cy="1200329"/>
          </a:xfrm>
          <a:prstGeom prst="rect">
            <a:avLst/>
          </a:prstGeom>
          <a:noFill/>
        </p:spPr>
        <p:txBody>
          <a:bodyPr wrap="square">
            <a:spAutoFit/>
          </a:bodyPr>
          <a:lstStyle/>
          <a:p>
            <a:pPr>
              <a:buNone/>
            </a:pPr>
            <a:r>
              <a:rPr lang="en-US" b="1" dirty="0"/>
              <a:t>Precision of Model B &gt; Precision of Model A</a:t>
            </a:r>
            <a:endParaRPr lang="en-US" dirty="0"/>
          </a:p>
          <a:p>
            <a:pPr>
              <a:buNone/>
            </a:pPr>
            <a:r>
              <a:rPr lang="en-US" dirty="0"/>
              <a:t>Therefore, you would select </a:t>
            </a:r>
            <a:r>
              <a:rPr lang="en-US" b="1" dirty="0"/>
              <a:t>Model B</a:t>
            </a:r>
            <a:r>
              <a:rPr lang="en-US" dirty="0"/>
              <a:t> based on its higher precision. This is what Precision measures, and that's the complete concept.</a:t>
            </a:r>
          </a:p>
        </p:txBody>
      </p:sp>
    </p:spTree>
    <p:extLst>
      <p:ext uri="{BB962C8B-B14F-4D97-AF65-F5344CB8AC3E}">
        <p14:creationId xmlns:p14="http://schemas.microsoft.com/office/powerpoint/2010/main" val="395186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8E92DE-BF34-ACB5-054B-95E9E4220FD5}"/>
              </a:ext>
            </a:extLst>
          </p:cNvPr>
          <p:cNvSpPr txBox="1"/>
          <p:nvPr/>
        </p:nvSpPr>
        <p:spPr>
          <a:xfrm>
            <a:off x="373624" y="234388"/>
            <a:ext cx="10982633" cy="3970318"/>
          </a:xfrm>
          <a:prstGeom prst="rect">
            <a:avLst/>
          </a:prstGeom>
          <a:noFill/>
        </p:spPr>
        <p:txBody>
          <a:bodyPr wrap="square">
            <a:spAutoFit/>
          </a:bodyPr>
          <a:lstStyle/>
          <a:p>
            <a:pPr>
              <a:buNone/>
            </a:pPr>
            <a:r>
              <a:rPr lang="en-US" b="1" dirty="0"/>
              <a:t>Recall</a:t>
            </a:r>
          </a:p>
          <a:p>
            <a:pPr>
              <a:buNone/>
            </a:pPr>
            <a:r>
              <a:rPr lang="en-US" b="1" dirty="0"/>
              <a:t>Understanding Recall Through an Example</a:t>
            </a:r>
          </a:p>
          <a:p>
            <a:pPr>
              <a:buNone/>
            </a:pPr>
            <a:r>
              <a:rPr lang="en-US" dirty="0"/>
              <a:t>Let's say you're a manager again, creating a model for a hospital client. The model will analyze chest X-rays and detect whether cancer is present or not. You give two juniors the task of building separate models, and the better model will be deployed in your software.</a:t>
            </a:r>
          </a:p>
          <a:p>
            <a:pPr>
              <a:buNone/>
            </a:pPr>
            <a:r>
              <a:rPr lang="en-US" dirty="0"/>
              <a:t>Both models are built:</a:t>
            </a:r>
          </a:p>
          <a:p>
            <a:pPr>
              <a:buFont typeface="Arial" panose="020B0604020202020204" pitchFamily="34" charset="0"/>
              <a:buChar char="•"/>
            </a:pPr>
            <a:r>
              <a:rPr lang="en-US" b="1" dirty="0"/>
              <a:t>Model A</a:t>
            </a:r>
            <a:endParaRPr lang="en-US" dirty="0"/>
          </a:p>
          <a:p>
            <a:pPr>
              <a:buFont typeface="Arial" panose="020B0604020202020204" pitchFamily="34" charset="0"/>
              <a:buChar char="•"/>
            </a:pPr>
            <a:r>
              <a:rPr lang="en-US" b="1" dirty="0"/>
              <a:t>Model B</a:t>
            </a:r>
            <a:endParaRPr lang="en-US" dirty="0"/>
          </a:p>
          <a:p>
            <a:pPr>
              <a:buNone/>
            </a:pPr>
            <a:r>
              <a:rPr lang="en-US" dirty="0"/>
              <a:t>As a manager, you need to decide which model to deploy. </a:t>
            </a:r>
          </a:p>
          <a:p>
            <a:pPr>
              <a:buNone/>
            </a:pPr>
            <a:r>
              <a:rPr lang="en-US" b="1" dirty="0"/>
              <a:t>Analyzing the Models</a:t>
            </a:r>
          </a:p>
          <a:p>
            <a:pPr>
              <a:buNone/>
            </a:pPr>
            <a:r>
              <a:rPr lang="en-US" dirty="0"/>
              <a:t>Again, if you calculate accuracy:</a:t>
            </a:r>
          </a:p>
          <a:p>
            <a:pPr>
              <a:buFont typeface="Arial" panose="020B0604020202020204" pitchFamily="34" charset="0"/>
              <a:buChar char="•"/>
            </a:pPr>
            <a:r>
              <a:rPr lang="en-US" dirty="0"/>
              <a:t>Diagonal elements are the same for both</a:t>
            </a:r>
          </a:p>
          <a:p>
            <a:pPr>
              <a:buFont typeface="Arial" panose="020B0604020202020204" pitchFamily="34" charset="0"/>
              <a:buChar char="•"/>
            </a:pPr>
            <a:r>
              <a:rPr lang="en-US" dirty="0"/>
              <a:t>Total is the same</a:t>
            </a:r>
          </a:p>
          <a:p>
            <a:pPr>
              <a:buFont typeface="Arial" panose="020B0604020202020204" pitchFamily="34" charset="0"/>
              <a:buChar char="•"/>
            </a:pPr>
            <a:r>
              <a:rPr lang="en-US" b="1" dirty="0"/>
              <a:t>Both models have 90% accuracy</a:t>
            </a:r>
            <a:endParaRPr lang="en-US" dirty="0"/>
          </a:p>
        </p:txBody>
      </p:sp>
    </p:spTree>
    <p:extLst>
      <p:ext uri="{BB962C8B-B14F-4D97-AF65-F5344CB8AC3E}">
        <p14:creationId xmlns:p14="http://schemas.microsoft.com/office/powerpoint/2010/main" val="1551710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0095E0-9B6B-052C-1147-6BFE191C98D7}"/>
              </a:ext>
            </a:extLst>
          </p:cNvPr>
          <p:cNvSpPr txBox="1"/>
          <p:nvPr/>
        </p:nvSpPr>
        <p:spPr>
          <a:xfrm>
            <a:off x="235974" y="200994"/>
            <a:ext cx="6096000" cy="3139321"/>
          </a:xfrm>
          <a:prstGeom prst="rect">
            <a:avLst/>
          </a:prstGeom>
          <a:noFill/>
        </p:spPr>
        <p:txBody>
          <a:bodyPr wrap="square">
            <a:spAutoFit/>
          </a:bodyPr>
          <a:lstStyle/>
          <a:p>
            <a:pPr>
              <a:buNone/>
            </a:pPr>
            <a:r>
              <a:rPr lang="en-US" dirty="0"/>
              <a:t>So you </a:t>
            </a:r>
            <a:r>
              <a:rPr lang="en-US" b="1" dirty="0"/>
              <a:t>cannot differentiate based on accuracy</a:t>
            </a:r>
            <a:r>
              <a:rPr lang="en-US" dirty="0"/>
              <a:t>.</a:t>
            </a:r>
          </a:p>
          <a:p>
            <a:pPr>
              <a:buNone/>
            </a:pPr>
            <a:r>
              <a:rPr lang="en-US" dirty="0"/>
              <a:t>You need to look at </a:t>
            </a:r>
            <a:r>
              <a:rPr lang="en-US" b="1" dirty="0"/>
              <a:t>Type-1 or Type-2 errors</a:t>
            </a:r>
            <a:r>
              <a:rPr lang="en-US" dirty="0"/>
              <a:t> (False Positives or False Negatives).</a:t>
            </a:r>
          </a:p>
          <a:p>
            <a:pPr>
              <a:buNone/>
            </a:pPr>
            <a:r>
              <a:rPr lang="en-US" b="1" dirty="0"/>
              <a:t>Understanding the Errors in Context</a:t>
            </a:r>
          </a:p>
          <a:p>
            <a:pPr>
              <a:buNone/>
            </a:pPr>
            <a:r>
              <a:rPr lang="en-US" dirty="0"/>
              <a:t>For cancer detection:</a:t>
            </a:r>
          </a:p>
          <a:p>
            <a:pPr>
              <a:buFont typeface="Arial" panose="020B0604020202020204" pitchFamily="34" charset="0"/>
              <a:buChar char="•"/>
            </a:pPr>
            <a:r>
              <a:rPr lang="en-US" b="1" dirty="0"/>
              <a:t>1 = Cancer detected</a:t>
            </a:r>
            <a:endParaRPr lang="en-US" dirty="0"/>
          </a:p>
          <a:p>
            <a:pPr>
              <a:buFont typeface="Arial" panose="020B0604020202020204" pitchFamily="34" charset="0"/>
              <a:buChar char="•"/>
            </a:pPr>
            <a:r>
              <a:rPr lang="en-US" b="1" dirty="0"/>
              <a:t>0 = No cancer detected</a:t>
            </a:r>
            <a:endParaRPr lang="en-US" dirty="0"/>
          </a:p>
          <a:p>
            <a:pPr>
              <a:buNone/>
            </a:pPr>
            <a:r>
              <a:rPr lang="en-US" b="1" dirty="0"/>
              <a:t>False Positive</a:t>
            </a:r>
            <a:r>
              <a:rPr lang="en-US" dirty="0"/>
              <a:t>: You detected cancer in a patient who does NOT have cancer </a:t>
            </a:r>
          </a:p>
          <a:p>
            <a:pPr>
              <a:buNone/>
            </a:pPr>
            <a:r>
              <a:rPr lang="en-US" b="1" dirty="0"/>
              <a:t>False Negative</a:t>
            </a:r>
            <a:r>
              <a:rPr lang="en-US" dirty="0"/>
              <a:t>: A patient HAS cancer, but your model said they do NOT have cancer</a:t>
            </a:r>
          </a:p>
        </p:txBody>
      </p:sp>
      <p:sp>
        <p:nvSpPr>
          <p:cNvPr id="5" name="TextBox 4">
            <a:extLst>
              <a:ext uri="{FF2B5EF4-FFF2-40B4-BE49-F238E27FC236}">
                <a16:creationId xmlns:a16="http://schemas.microsoft.com/office/drawing/2014/main" id="{B963BC18-7944-AC2C-86BA-4DC7FE6F7D38}"/>
              </a:ext>
            </a:extLst>
          </p:cNvPr>
          <p:cNvSpPr txBox="1"/>
          <p:nvPr/>
        </p:nvSpPr>
        <p:spPr>
          <a:xfrm>
            <a:off x="235974" y="3429000"/>
            <a:ext cx="6096000" cy="2585323"/>
          </a:xfrm>
          <a:prstGeom prst="rect">
            <a:avLst/>
          </a:prstGeom>
          <a:noFill/>
        </p:spPr>
        <p:txBody>
          <a:bodyPr wrap="square">
            <a:spAutoFit/>
          </a:bodyPr>
          <a:lstStyle/>
          <a:p>
            <a:pPr>
              <a:buNone/>
            </a:pPr>
            <a:r>
              <a:rPr lang="en-US" dirty="0"/>
              <a:t>Which error is more dangerous?</a:t>
            </a:r>
          </a:p>
          <a:p>
            <a:pPr>
              <a:buNone/>
            </a:pPr>
            <a:r>
              <a:rPr lang="en-US" dirty="0"/>
              <a:t>Clearly, </a:t>
            </a:r>
            <a:r>
              <a:rPr lang="en-US" b="1" dirty="0"/>
              <a:t>False Negative is more dangerous</a:t>
            </a:r>
            <a:r>
              <a:rPr lang="en-US" dirty="0"/>
              <a:t> because if someone has cancer and you don't detect it, they won't get treatment and could die.</a:t>
            </a:r>
          </a:p>
          <a:p>
            <a:pPr>
              <a:buNone/>
            </a:pPr>
            <a:r>
              <a:rPr lang="en-US" dirty="0"/>
              <a:t>Looking at our models:</a:t>
            </a:r>
          </a:p>
          <a:p>
            <a:pPr>
              <a:buFont typeface="Arial" panose="020B0604020202020204" pitchFamily="34" charset="0"/>
              <a:buChar char="•"/>
            </a:pPr>
            <a:r>
              <a:rPr lang="en-US" b="1" dirty="0"/>
              <a:t>Model B</a:t>
            </a:r>
            <a:r>
              <a:rPr lang="en-US" dirty="0"/>
              <a:t> has higher False Negatives</a:t>
            </a:r>
          </a:p>
          <a:p>
            <a:pPr>
              <a:buFont typeface="Arial" panose="020B0604020202020204" pitchFamily="34" charset="0"/>
              <a:buChar char="•"/>
            </a:pPr>
            <a:r>
              <a:rPr lang="en-US" b="1" dirty="0"/>
              <a:t>Model A</a:t>
            </a:r>
            <a:r>
              <a:rPr lang="en-US" dirty="0"/>
              <a:t> has lower False Negatives</a:t>
            </a:r>
          </a:p>
          <a:p>
            <a:pPr>
              <a:buNone/>
            </a:pPr>
            <a:r>
              <a:rPr lang="en-US" dirty="0"/>
              <a:t>Therefore, you should deploy </a:t>
            </a:r>
            <a:r>
              <a:rPr lang="en-US" b="1" dirty="0"/>
              <a:t>Model A</a:t>
            </a:r>
            <a:r>
              <a:rPr lang="en-US" dirty="0"/>
              <a:t> because it makes fewer False Negative (Type-2) errors.</a:t>
            </a:r>
          </a:p>
        </p:txBody>
      </p:sp>
    </p:spTree>
    <p:extLst>
      <p:ext uri="{BB962C8B-B14F-4D97-AF65-F5344CB8AC3E}">
        <p14:creationId xmlns:p14="http://schemas.microsoft.com/office/powerpoint/2010/main" val="557642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E2691-C031-9FDA-AAE0-BEABEFFAC419}"/>
              </a:ext>
            </a:extLst>
          </p:cNvPr>
          <p:cNvSpPr txBox="1"/>
          <p:nvPr/>
        </p:nvSpPr>
        <p:spPr>
          <a:xfrm>
            <a:off x="196645" y="297114"/>
            <a:ext cx="6096000" cy="369332"/>
          </a:xfrm>
          <a:prstGeom prst="rect">
            <a:avLst/>
          </a:prstGeom>
          <a:noFill/>
        </p:spPr>
        <p:txBody>
          <a:bodyPr wrap="square">
            <a:spAutoFit/>
          </a:bodyPr>
          <a:lstStyle/>
          <a:p>
            <a:pPr>
              <a:buNone/>
            </a:pPr>
            <a:r>
              <a:rPr lang="en-US" b="1" dirty="0"/>
              <a:t>Definition of Recall</a:t>
            </a:r>
          </a:p>
        </p:txBody>
      </p:sp>
      <p:sp>
        <p:nvSpPr>
          <p:cNvPr id="5" name="TextBox 4">
            <a:extLst>
              <a:ext uri="{FF2B5EF4-FFF2-40B4-BE49-F238E27FC236}">
                <a16:creationId xmlns:a16="http://schemas.microsoft.com/office/drawing/2014/main" id="{ADF15763-ABF4-556B-FC74-71DE0389E669}"/>
              </a:ext>
            </a:extLst>
          </p:cNvPr>
          <p:cNvSpPr txBox="1"/>
          <p:nvPr/>
        </p:nvSpPr>
        <p:spPr>
          <a:xfrm>
            <a:off x="294967" y="1070472"/>
            <a:ext cx="6096000" cy="1477328"/>
          </a:xfrm>
          <a:prstGeom prst="rect">
            <a:avLst/>
          </a:prstGeom>
          <a:noFill/>
        </p:spPr>
        <p:txBody>
          <a:bodyPr wrap="square">
            <a:spAutoFit/>
          </a:bodyPr>
          <a:lstStyle/>
          <a:p>
            <a:pPr>
              <a:buNone/>
            </a:pPr>
            <a:r>
              <a:rPr lang="en-US" b="1" dirty="0"/>
              <a:t>Recall</a:t>
            </a:r>
            <a:r>
              <a:rPr lang="en-US" dirty="0"/>
              <a:t> is defined as:</a:t>
            </a:r>
          </a:p>
          <a:p>
            <a:pPr>
              <a:buNone/>
            </a:pPr>
            <a:r>
              <a:rPr lang="en-US" b="1" dirty="0"/>
              <a:t>What proportion of actual positives is correctly classified?</a:t>
            </a:r>
            <a:endParaRPr lang="en-US" dirty="0"/>
          </a:p>
          <a:p>
            <a:pPr>
              <a:buNone/>
            </a:pPr>
            <a:r>
              <a:rPr lang="en-US" dirty="0"/>
              <a:t>In other words: Of all the people who truly have cancer, how many did we detect?</a:t>
            </a:r>
          </a:p>
          <a:p>
            <a:pPr>
              <a:buNone/>
            </a:pPr>
            <a:r>
              <a:rPr lang="en-US" b="1" dirty="0"/>
              <a:t>Formula:</a:t>
            </a:r>
            <a:endParaRPr lang="en-US" dirty="0"/>
          </a:p>
        </p:txBody>
      </p:sp>
      <p:sp>
        <p:nvSpPr>
          <p:cNvPr id="7" name="TextBox 6">
            <a:extLst>
              <a:ext uri="{FF2B5EF4-FFF2-40B4-BE49-F238E27FC236}">
                <a16:creationId xmlns:a16="http://schemas.microsoft.com/office/drawing/2014/main" id="{595C34A0-29A6-F816-3862-6911CE32D82E}"/>
              </a:ext>
            </a:extLst>
          </p:cNvPr>
          <p:cNvSpPr txBox="1"/>
          <p:nvPr/>
        </p:nvSpPr>
        <p:spPr>
          <a:xfrm>
            <a:off x="294967" y="2582494"/>
            <a:ext cx="6096000" cy="369332"/>
          </a:xfrm>
          <a:prstGeom prst="rect">
            <a:avLst/>
          </a:prstGeom>
          <a:noFill/>
        </p:spPr>
        <p:txBody>
          <a:bodyPr wrap="square">
            <a:spAutoFit/>
          </a:bodyPr>
          <a:lstStyle/>
          <a:p>
            <a:r>
              <a:rPr lang="en-IN" dirty="0"/>
              <a:t>Recall = True Positives / (True Positives + False Negatives)</a:t>
            </a:r>
          </a:p>
        </p:txBody>
      </p:sp>
      <p:sp>
        <p:nvSpPr>
          <p:cNvPr id="9" name="TextBox 8">
            <a:extLst>
              <a:ext uri="{FF2B5EF4-FFF2-40B4-BE49-F238E27FC236}">
                <a16:creationId xmlns:a16="http://schemas.microsoft.com/office/drawing/2014/main" id="{2528FD2B-2A4D-DD2D-99BA-34324B545ADB}"/>
              </a:ext>
            </a:extLst>
          </p:cNvPr>
          <p:cNvSpPr txBox="1"/>
          <p:nvPr/>
        </p:nvSpPr>
        <p:spPr>
          <a:xfrm>
            <a:off x="294967" y="3357997"/>
            <a:ext cx="6096000" cy="2585323"/>
          </a:xfrm>
          <a:prstGeom prst="rect">
            <a:avLst/>
          </a:prstGeom>
          <a:noFill/>
        </p:spPr>
        <p:txBody>
          <a:bodyPr wrap="square">
            <a:spAutoFit/>
          </a:bodyPr>
          <a:lstStyle/>
          <a:p>
            <a:pPr>
              <a:buNone/>
            </a:pPr>
            <a:r>
              <a:rPr lang="en-US" b="1" dirty="0"/>
              <a:t>Calculating Recall for Our Models</a:t>
            </a:r>
          </a:p>
          <a:p>
            <a:pPr>
              <a:buNone/>
            </a:pPr>
            <a:r>
              <a:rPr lang="en-US" b="1" dirty="0"/>
              <a:t>Model A:</a:t>
            </a:r>
            <a:endParaRPr lang="en-US" dirty="0"/>
          </a:p>
          <a:p>
            <a:pPr>
              <a:buFont typeface="Arial" panose="020B0604020202020204" pitchFamily="34" charset="0"/>
              <a:buChar char="•"/>
            </a:pPr>
            <a:r>
              <a:rPr lang="en-US" dirty="0"/>
              <a:t>True Positives = 80</a:t>
            </a:r>
          </a:p>
          <a:p>
            <a:pPr>
              <a:buFont typeface="Arial" panose="020B0604020202020204" pitchFamily="34" charset="0"/>
              <a:buChar char="•"/>
            </a:pPr>
            <a:r>
              <a:rPr lang="en-US" dirty="0"/>
              <a:t>False Negatives = 20</a:t>
            </a:r>
          </a:p>
          <a:p>
            <a:pPr>
              <a:buFont typeface="Arial" panose="020B0604020202020204" pitchFamily="34" charset="0"/>
              <a:buChar char="•"/>
            </a:pPr>
            <a:r>
              <a:rPr lang="en-US" dirty="0"/>
              <a:t>Recall = 80 / (80 + 20) = 80/100 = 0.80</a:t>
            </a:r>
          </a:p>
          <a:p>
            <a:pPr>
              <a:buNone/>
            </a:pPr>
            <a:r>
              <a:rPr lang="en-US" b="1" dirty="0"/>
              <a:t>Model B:</a:t>
            </a:r>
            <a:endParaRPr lang="en-US" dirty="0"/>
          </a:p>
          <a:p>
            <a:pPr>
              <a:buFont typeface="Arial" panose="020B0604020202020204" pitchFamily="34" charset="0"/>
              <a:buChar char="•"/>
            </a:pPr>
            <a:r>
              <a:rPr lang="en-US" dirty="0"/>
              <a:t>True Positives = 75</a:t>
            </a:r>
          </a:p>
          <a:p>
            <a:pPr>
              <a:buFont typeface="Arial" panose="020B0604020202020204" pitchFamily="34" charset="0"/>
              <a:buChar char="•"/>
            </a:pPr>
            <a:r>
              <a:rPr lang="en-US" dirty="0"/>
              <a:t>False Negatives = 75</a:t>
            </a:r>
          </a:p>
          <a:p>
            <a:pPr>
              <a:buFont typeface="Arial" panose="020B0604020202020204" pitchFamily="34" charset="0"/>
              <a:buChar char="•"/>
            </a:pPr>
            <a:r>
              <a:rPr lang="en-US" dirty="0"/>
              <a:t>Recall = 75 / (75 + 75) = 75/150 = 0.50</a:t>
            </a:r>
          </a:p>
        </p:txBody>
      </p:sp>
    </p:spTree>
    <p:extLst>
      <p:ext uri="{BB962C8B-B14F-4D97-AF65-F5344CB8AC3E}">
        <p14:creationId xmlns:p14="http://schemas.microsoft.com/office/powerpoint/2010/main" val="2049091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AF9657-8919-824B-7CC9-D0F57C30B4FB}"/>
              </a:ext>
            </a:extLst>
          </p:cNvPr>
          <p:cNvSpPr txBox="1"/>
          <p:nvPr/>
        </p:nvSpPr>
        <p:spPr>
          <a:xfrm>
            <a:off x="275304" y="457480"/>
            <a:ext cx="6096000" cy="2585323"/>
          </a:xfrm>
          <a:prstGeom prst="rect">
            <a:avLst/>
          </a:prstGeom>
          <a:noFill/>
        </p:spPr>
        <p:txBody>
          <a:bodyPr wrap="square">
            <a:spAutoFit/>
          </a:bodyPr>
          <a:lstStyle/>
          <a:p>
            <a:pPr>
              <a:buNone/>
            </a:pPr>
            <a:r>
              <a:rPr lang="en-US" b="1" dirty="0"/>
              <a:t>Recall of Model A &gt; Recall of Model B</a:t>
            </a:r>
            <a:endParaRPr lang="en-US" dirty="0"/>
          </a:p>
          <a:p>
            <a:pPr>
              <a:buNone/>
            </a:pPr>
            <a:r>
              <a:rPr lang="en-US" dirty="0"/>
              <a:t>Therefore, you would select </a:t>
            </a:r>
            <a:r>
              <a:rPr lang="en-US" b="1" dirty="0"/>
              <a:t>Model A</a:t>
            </a:r>
            <a:r>
              <a:rPr lang="en-US" dirty="0"/>
              <a:t> in this case based on higher Recall.</a:t>
            </a:r>
          </a:p>
          <a:p>
            <a:pPr>
              <a:buNone/>
            </a:pPr>
            <a:r>
              <a:rPr lang="en-US" b="1" dirty="0"/>
              <a:t>Summary</a:t>
            </a:r>
          </a:p>
          <a:p>
            <a:pPr>
              <a:buNone/>
            </a:pPr>
            <a:r>
              <a:rPr lang="en-US" dirty="0"/>
              <a:t>If accuracy doesn't help, you have two additional metrics:</a:t>
            </a:r>
          </a:p>
          <a:p>
            <a:pPr>
              <a:buFont typeface="+mj-lt"/>
              <a:buAutoNum type="arabicPeriod"/>
            </a:pPr>
            <a:r>
              <a:rPr lang="en-US" b="1" dirty="0"/>
              <a:t>Precision</a:t>
            </a:r>
            <a:endParaRPr lang="en-US" dirty="0"/>
          </a:p>
          <a:p>
            <a:pPr>
              <a:buFont typeface="+mj-lt"/>
              <a:buAutoNum type="arabicPeriod"/>
            </a:pPr>
            <a:r>
              <a:rPr lang="en-US" b="1" dirty="0"/>
              <a:t>Recall</a:t>
            </a:r>
            <a:endParaRPr lang="en-US" dirty="0"/>
          </a:p>
          <a:p>
            <a:pPr>
              <a:buNone/>
            </a:pPr>
            <a:r>
              <a:rPr lang="en-US" dirty="0"/>
              <a:t>But to use them, you need to understand your problem's nature:</a:t>
            </a:r>
          </a:p>
        </p:txBody>
      </p:sp>
      <p:sp>
        <p:nvSpPr>
          <p:cNvPr id="5" name="TextBox 4">
            <a:extLst>
              <a:ext uri="{FF2B5EF4-FFF2-40B4-BE49-F238E27FC236}">
                <a16:creationId xmlns:a16="http://schemas.microsoft.com/office/drawing/2014/main" id="{17B3E2C3-8F0C-4752-4146-165739C65D6B}"/>
              </a:ext>
            </a:extLst>
          </p:cNvPr>
          <p:cNvSpPr txBox="1"/>
          <p:nvPr/>
        </p:nvSpPr>
        <p:spPr>
          <a:xfrm>
            <a:off x="275304" y="3042803"/>
            <a:ext cx="6096000" cy="1200329"/>
          </a:xfrm>
          <a:prstGeom prst="rect">
            <a:avLst/>
          </a:prstGeom>
          <a:noFill/>
        </p:spPr>
        <p:txBody>
          <a:bodyPr wrap="square">
            <a:spAutoFit/>
          </a:bodyPr>
          <a:lstStyle/>
          <a:p>
            <a:pPr>
              <a:buFont typeface="Arial" panose="020B0604020202020204" pitchFamily="34" charset="0"/>
              <a:buChar char="•"/>
            </a:pPr>
            <a:r>
              <a:rPr lang="en-US" dirty="0"/>
              <a:t>Are </a:t>
            </a:r>
            <a:r>
              <a:rPr lang="en-US" b="1" dirty="0"/>
              <a:t>Type-1 errors</a:t>
            </a:r>
            <a:r>
              <a:rPr lang="en-US" dirty="0"/>
              <a:t> (False Positives) more dangerous? → Use </a:t>
            </a:r>
            <a:r>
              <a:rPr lang="en-US" b="1" dirty="0"/>
              <a:t>Precision</a:t>
            </a:r>
            <a:endParaRPr lang="en-US" dirty="0"/>
          </a:p>
          <a:p>
            <a:pPr>
              <a:buFont typeface="Arial" panose="020B0604020202020204" pitchFamily="34" charset="0"/>
              <a:buChar char="•"/>
            </a:pPr>
            <a:r>
              <a:rPr lang="en-US" dirty="0"/>
              <a:t>Are </a:t>
            </a:r>
            <a:r>
              <a:rPr lang="en-US" b="1" dirty="0"/>
              <a:t>Type-2 errors</a:t>
            </a:r>
            <a:r>
              <a:rPr lang="en-US" dirty="0"/>
              <a:t> (False Negatives) more dangerous? → Use </a:t>
            </a:r>
            <a:r>
              <a:rPr lang="en-US" b="1" dirty="0"/>
              <a:t>Recall</a:t>
            </a:r>
            <a:endParaRPr lang="en-US" dirty="0"/>
          </a:p>
        </p:txBody>
      </p:sp>
    </p:spTree>
    <p:extLst>
      <p:ext uri="{BB962C8B-B14F-4D97-AF65-F5344CB8AC3E}">
        <p14:creationId xmlns:p14="http://schemas.microsoft.com/office/powerpoint/2010/main" val="3757631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866D68-D7E7-A543-8B6B-20F0E7D095CB}"/>
              </a:ext>
            </a:extLst>
          </p:cNvPr>
          <p:cNvSpPr txBox="1"/>
          <p:nvPr/>
        </p:nvSpPr>
        <p:spPr>
          <a:xfrm>
            <a:off x="314632" y="271515"/>
            <a:ext cx="6096000" cy="2308324"/>
          </a:xfrm>
          <a:prstGeom prst="rect">
            <a:avLst/>
          </a:prstGeom>
          <a:noFill/>
        </p:spPr>
        <p:txBody>
          <a:bodyPr wrap="square">
            <a:spAutoFit/>
          </a:bodyPr>
          <a:lstStyle/>
          <a:p>
            <a:pPr>
              <a:buNone/>
            </a:pPr>
            <a:r>
              <a:rPr lang="en-US" b="1" dirty="0"/>
              <a:t>F1 Score</a:t>
            </a:r>
          </a:p>
          <a:p>
            <a:pPr>
              <a:buNone/>
            </a:pPr>
            <a:r>
              <a:rPr lang="en-US" b="1" dirty="0"/>
              <a:t>The Problem</a:t>
            </a:r>
          </a:p>
          <a:p>
            <a:pPr>
              <a:buNone/>
            </a:pPr>
            <a:r>
              <a:rPr lang="en-US" dirty="0"/>
              <a:t>Sometimes you'll encounter problems where you </a:t>
            </a:r>
            <a:r>
              <a:rPr lang="en-US" b="1" dirty="0"/>
              <a:t>cannot determine</a:t>
            </a:r>
            <a:r>
              <a:rPr lang="en-US" dirty="0"/>
              <a:t> which is more dangerous:</a:t>
            </a:r>
          </a:p>
          <a:p>
            <a:pPr>
              <a:buFont typeface="Arial" panose="020B0604020202020204" pitchFamily="34" charset="0"/>
              <a:buChar char="•"/>
            </a:pPr>
            <a:r>
              <a:rPr lang="en-US" dirty="0"/>
              <a:t>Type-1 errors or Type-2 errors</a:t>
            </a:r>
          </a:p>
          <a:p>
            <a:pPr>
              <a:buNone/>
            </a:pPr>
            <a:r>
              <a:rPr lang="en-US" b="1" dirty="0"/>
              <a:t>Example:</a:t>
            </a:r>
            <a:r>
              <a:rPr lang="en-US" dirty="0"/>
              <a:t> You're building a classifier to detect whether a photo contains a cat or a dog.</a:t>
            </a:r>
          </a:p>
          <a:p>
            <a:pPr>
              <a:buFont typeface="Arial" panose="020B0604020202020204" pitchFamily="34" charset="0"/>
              <a:buChar char="•"/>
            </a:pPr>
            <a:r>
              <a:rPr lang="en-US" dirty="0"/>
              <a:t>Output: 1 = Dog, 0 = Cat</a:t>
            </a:r>
          </a:p>
        </p:txBody>
      </p:sp>
      <p:sp>
        <p:nvSpPr>
          <p:cNvPr id="5" name="TextBox 4">
            <a:extLst>
              <a:ext uri="{FF2B5EF4-FFF2-40B4-BE49-F238E27FC236}">
                <a16:creationId xmlns:a16="http://schemas.microsoft.com/office/drawing/2014/main" id="{4291DA77-68C8-CD51-069A-74EB3185858C}"/>
              </a:ext>
            </a:extLst>
          </p:cNvPr>
          <p:cNvSpPr txBox="1"/>
          <p:nvPr/>
        </p:nvSpPr>
        <p:spPr>
          <a:xfrm>
            <a:off x="314632" y="2856552"/>
            <a:ext cx="6096000" cy="2585323"/>
          </a:xfrm>
          <a:prstGeom prst="rect">
            <a:avLst/>
          </a:prstGeom>
          <a:noFill/>
        </p:spPr>
        <p:txBody>
          <a:bodyPr wrap="square">
            <a:spAutoFit/>
          </a:bodyPr>
          <a:lstStyle/>
          <a:p>
            <a:pPr>
              <a:buNone/>
            </a:pPr>
            <a:r>
              <a:rPr lang="en-US" dirty="0"/>
              <a:t>Here:</a:t>
            </a:r>
          </a:p>
          <a:p>
            <a:pPr>
              <a:buFont typeface="Arial" panose="020B0604020202020204" pitchFamily="34" charset="0"/>
              <a:buChar char="•"/>
            </a:pPr>
            <a:r>
              <a:rPr lang="en-US" b="1" dirty="0"/>
              <a:t>Type-1 error</a:t>
            </a:r>
            <a:r>
              <a:rPr lang="en-US" dirty="0"/>
              <a:t>: You called a cat a dog</a:t>
            </a:r>
          </a:p>
          <a:p>
            <a:pPr>
              <a:buFont typeface="Arial" panose="020B0604020202020204" pitchFamily="34" charset="0"/>
              <a:buChar char="•"/>
            </a:pPr>
            <a:r>
              <a:rPr lang="en-US" b="1" dirty="0"/>
              <a:t>Type-2 error</a:t>
            </a:r>
            <a:r>
              <a:rPr lang="en-US" dirty="0"/>
              <a:t>: You called a dog a cat</a:t>
            </a:r>
          </a:p>
          <a:p>
            <a:pPr>
              <a:buNone/>
            </a:pPr>
            <a:r>
              <a:rPr lang="en-US" dirty="0"/>
              <a:t>You cannot say which error is more dangerous! In this case, you need to consider </a:t>
            </a:r>
            <a:r>
              <a:rPr lang="en-US" b="1" dirty="0"/>
              <a:t>both Precision and Recall</a:t>
            </a:r>
            <a:r>
              <a:rPr lang="en-US" dirty="0"/>
              <a:t>.</a:t>
            </a:r>
          </a:p>
          <a:p>
            <a:pPr>
              <a:buNone/>
            </a:pPr>
            <a:r>
              <a:rPr lang="en-US" dirty="0"/>
              <a:t>But looking at both separately is difficult because there's a </a:t>
            </a:r>
            <a:r>
              <a:rPr lang="en-US" b="1" dirty="0"/>
              <a:t>trade-off</a:t>
            </a:r>
            <a:r>
              <a:rPr lang="en-US" dirty="0"/>
              <a:t> between Precision and Recall:</a:t>
            </a:r>
          </a:p>
          <a:p>
            <a:pPr>
              <a:buFont typeface="Arial" panose="020B0604020202020204" pitchFamily="34" charset="0"/>
              <a:buChar char="•"/>
            </a:pPr>
            <a:r>
              <a:rPr lang="en-US" dirty="0"/>
              <a:t>If you increase Precision, Recall decreases</a:t>
            </a:r>
          </a:p>
          <a:p>
            <a:pPr>
              <a:buFont typeface="Arial" panose="020B0604020202020204" pitchFamily="34" charset="0"/>
              <a:buChar char="•"/>
            </a:pPr>
            <a:r>
              <a:rPr lang="en-US" dirty="0"/>
              <a:t>If you increase Recall, Precision decreases</a:t>
            </a:r>
          </a:p>
        </p:txBody>
      </p:sp>
    </p:spTree>
    <p:extLst>
      <p:ext uri="{BB962C8B-B14F-4D97-AF65-F5344CB8AC3E}">
        <p14:creationId xmlns:p14="http://schemas.microsoft.com/office/powerpoint/2010/main" val="1558260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E12948-4E55-8398-F15E-91C2E86D41AB}"/>
              </a:ext>
            </a:extLst>
          </p:cNvPr>
          <p:cNvSpPr txBox="1"/>
          <p:nvPr/>
        </p:nvSpPr>
        <p:spPr>
          <a:xfrm>
            <a:off x="304800" y="517321"/>
            <a:ext cx="6096000" cy="2308324"/>
          </a:xfrm>
          <a:prstGeom prst="rect">
            <a:avLst/>
          </a:prstGeom>
          <a:noFill/>
        </p:spPr>
        <p:txBody>
          <a:bodyPr wrap="square">
            <a:spAutoFit/>
          </a:bodyPr>
          <a:lstStyle/>
          <a:p>
            <a:pPr>
              <a:buNone/>
            </a:pPr>
            <a:r>
              <a:rPr lang="en-US" b="1" dirty="0"/>
              <a:t>Solution: F1 Score</a:t>
            </a:r>
          </a:p>
          <a:p>
            <a:pPr>
              <a:buNone/>
            </a:pPr>
            <a:r>
              <a:rPr lang="en-US" dirty="0"/>
              <a:t>When you cannot define which error type is worse, you need to look at both metrics together. That's where </a:t>
            </a:r>
            <a:r>
              <a:rPr lang="en-US" b="1" dirty="0"/>
              <a:t>F1 Score</a:t>
            </a:r>
            <a:r>
              <a:rPr lang="en-US" dirty="0"/>
              <a:t> comes in.</a:t>
            </a:r>
          </a:p>
          <a:p>
            <a:pPr>
              <a:buNone/>
            </a:pPr>
            <a:r>
              <a:rPr lang="en-US" dirty="0"/>
              <a:t>F1 Score is essentially a </a:t>
            </a:r>
            <a:r>
              <a:rPr lang="en-US" b="1" dirty="0"/>
              <a:t>combination of Precision and Recall</a:t>
            </a:r>
            <a:r>
              <a:rPr lang="en-US" dirty="0"/>
              <a:t> — it's like taking an average, but not a simple average. It's a </a:t>
            </a:r>
            <a:r>
              <a:rPr lang="en-US" b="1" dirty="0"/>
              <a:t>Harmonic Mean</a:t>
            </a:r>
            <a:r>
              <a:rPr lang="en-US" dirty="0"/>
              <a:t>.</a:t>
            </a:r>
          </a:p>
          <a:p>
            <a:pPr>
              <a:buNone/>
            </a:pPr>
            <a:r>
              <a:rPr lang="en-US" b="1" dirty="0"/>
              <a:t>Formula</a:t>
            </a:r>
          </a:p>
        </p:txBody>
      </p:sp>
      <p:sp>
        <p:nvSpPr>
          <p:cNvPr id="5" name="TextBox 4">
            <a:extLst>
              <a:ext uri="{FF2B5EF4-FFF2-40B4-BE49-F238E27FC236}">
                <a16:creationId xmlns:a16="http://schemas.microsoft.com/office/drawing/2014/main" id="{916067FC-B732-4BA1-1696-3C4B2F1CBAEC}"/>
              </a:ext>
            </a:extLst>
          </p:cNvPr>
          <p:cNvSpPr txBox="1"/>
          <p:nvPr/>
        </p:nvSpPr>
        <p:spPr>
          <a:xfrm>
            <a:off x="304800" y="3059668"/>
            <a:ext cx="6096000" cy="369332"/>
          </a:xfrm>
          <a:prstGeom prst="rect">
            <a:avLst/>
          </a:prstGeom>
          <a:noFill/>
        </p:spPr>
        <p:txBody>
          <a:bodyPr wrap="square">
            <a:spAutoFit/>
          </a:bodyPr>
          <a:lstStyle/>
          <a:p>
            <a:pPr algn="l" rtl="0" latinLnBrk="0">
              <a:buNone/>
            </a:pPr>
            <a:r>
              <a:rPr lang="en-IN" dirty="0">
                <a:solidFill>
                  <a:srgbClr val="383A42"/>
                </a:solidFill>
                <a:effectLst/>
                <a:latin typeface="var(--font-mono)"/>
              </a:rPr>
              <a:t>F1 Score = (2 × Precision × Recall) / (Precision + Recall)</a:t>
            </a:r>
          </a:p>
        </p:txBody>
      </p:sp>
      <p:sp>
        <p:nvSpPr>
          <p:cNvPr id="9" name="TextBox 8">
            <a:extLst>
              <a:ext uri="{FF2B5EF4-FFF2-40B4-BE49-F238E27FC236}">
                <a16:creationId xmlns:a16="http://schemas.microsoft.com/office/drawing/2014/main" id="{51CAAD26-3B1D-E42A-3BDA-7E292FB08F69}"/>
              </a:ext>
            </a:extLst>
          </p:cNvPr>
          <p:cNvSpPr txBox="1"/>
          <p:nvPr/>
        </p:nvSpPr>
        <p:spPr>
          <a:xfrm>
            <a:off x="304800" y="3429000"/>
            <a:ext cx="6096000" cy="2862322"/>
          </a:xfrm>
          <a:prstGeom prst="rect">
            <a:avLst/>
          </a:prstGeom>
          <a:noFill/>
        </p:spPr>
        <p:txBody>
          <a:bodyPr wrap="square">
            <a:spAutoFit/>
          </a:bodyPr>
          <a:lstStyle/>
          <a:p>
            <a:pPr>
              <a:buNone/>
            </a:pPr>
            <a:r>
              <a:rPr lang="en-US" b="1" dirty="0"/>
              <a:t>Why Harmonic Mean?</a:t>
            </a:r>
          </a:p>
          <a:p>
            <a:pPr>
              <a:buNone/>
            </a:pPr>
            <a:r>
              <a:rPr lang="en-US" dirty="0"/>
              <a:t>Harmonic Mean has a special property: </a:t>
            </a:r>
            <a:r>
              <a:rPr lang="en-US" b="1" dirty="0"/>
              <a:t>it always stays closer to the lower value</a:t>
            </a:r>
            <a:r>
              <a:rPr lang="en-US" dirty="0"/>
              <a:t>.</a:t>
            </a:r>
          </a:p>
          <a:p>
            <a:pPr>
              <a:buNone/>
            </a:pPr>
            <a:r>
              <a:rPr lang="en-US" b="1" dirty="0"/>
              <a:t>Example 1:</a:t>
            </a:r>
            <a:endParaRPr lang="en-US" dirty="0"/>
          </a:p>
          <a:p>
            <a:pPr>
              <a:buFont typeface="Arial" panose="020B0604020202020204" pitchFamily="34" charset="0"/>
              <a:buChar char="•"/>
            </a:pPr>
            <a:r>
              <a:rPr lang="en-US" dirty="0"/>
              <a:t>Precision = 2</a:t>
            </a:r>
          </a:p>
          <a:p>
            <a:pPr>
              <a:buFont typeface="Arial" panose="020B0604020202020204" pitchFamily="34" charset="0"/>
              <a:buChar char="•"/>
            </a:pPr>
            <a:r>
              <a:rPr lang="en-US" dirty="0"/>
              <a:t>Recall = 100</a:t>
            </a:r>
          </a:p>
          <a:p>
            <a:pPr>
              <a:buNone/>
            </a:pPr>
            <a:r>
              <a:rPr lang="en-US" b="1" dirty="0"/>
              <a:t>Arithmetic Mean</a:t>
            </a:r>
            <a:r>
              <a:rPr lang="en-US" dirty="0"/>
              <a:t> = (2 + 100) / 2 = 51</a:t>
            </a:r>
          </a:p>
          <a:p>
            <a:pPr>
              <a:buNone/>
            </a:pPr>
            <a:r>
              <a:rPr lang="en-US" b="1" dirty="0"/>
              <a:t>Harmonic Mean (F1)</a:t>
            </a:r>
            <a:r>
              <a:rPr lang="en-US" dirty="0"/>
              <a:t> = (2 × 2 × 100) / (2 + 100) = 400 / 102 ≈ </a:t>
            </a:r>
            <a:r>
              <a:rPr lang="en-US" b="1" dirty="0"/>
              <a:t>3.92</a:t>
            </a:r>
            <a:endParaRPr lang="en-US" dirty="0"/>
          </a:p>
          <a:p>
            <a:pPr>
              <a:buNone/>
            </a:pPr>
            <a:r>
              <a:rPr lang="en-US" dirty="0"/>
              <a:t>Notice: F1 is closer to 2 (the lower value), not 51!</a:t>
            </a:r>
          </a:p>
        </p:txBody>
      </p:sp>
      <p:sp>
        <p:nvSpPr>
          <p:cNvPr id="11" name="TextBox 10">
            <a:extLst>
              <a:ext uri="{FF2B5EF4-FFF2-40B4-BE49-F238E27FC236}">
                <a16:creationId xmlns:a16="http://schemas.microsoft.com/office/drawing/2014/main" id="{39731289-C5FD-4278-ADA9-FFC145F1D9BB}"/>
              </a:ext>
            </a:extLst>
          </p:cNvPr>
          <p:cNvSpPr txBox="1"/>
          <p:nvPr/>
        </p:nvSpPr>
        <p:spPr>
          <a:xfrm>
            <a:off x="226142" y="6184008"/>
            <a:ext cx="6096000" cy="646331"/>
          </a:xfrm>
          <a:prstGeom prst="rect">
            <a:avLst/>
          </a:prstGeom>
          <a:noFill/>
        </p:spPr>
        <p:txBody>
          <a:bodyPr wrap="square">
            <a:spAutoFit/>
          </a:bodyPr>
          <a:lstStyle/>
          <a:p>
            <a:r>
              <a:rPr lang="en-US" dirty="0"/>
              <a:t>This is important because </a:t>
            </a:r>
            <a:r>
              <a:rPr lang="en-US" b="1" dirty="0"/>
              <a:t>F1 Score penalizes models where either Precision or Recall is low</a:t>
            </a:r>
            <a:r>
              <a:rPr lang="en-US" dirty="0"/>
              <a:t>.</a:t>
            </a:r>
            <a:endParaRPr lang="en-IN" dirty="0"/>
          </a:p>
        </p:txBody>
      </p:sp>
    </p:spTree>
    <p:extLst>
      <p:ext uri="{BB962C8B-B14F-4D97-AF65-F5344CB8AC3E}">
        <p14:creationId xmlns:p14="http://schemas.microsoft.com/office/powerpoint/2010/main" val="2441166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0B212A-2FFA-14C7-5B1E-07F0B6FE5A1D}"/>
              </a:ext>
            </a:extLst>
          </p:cNvPr>
          <p:cNvSpPr txBox="1"/>
          <p:nvPr/>
        </p:nvSpPr>
        <p:spPr>
          <a:xfrm>
            <a:off x="206477" y="0"/>
            <a:ext cx="6096000" cy="2031325"/>
          </a:xfrm>
          <a:prstGeom prst="rect">
            <a:avLst/>
          </a:prstGeom>
          <a:noFill/>
        </p:spPr>
        <p:txBody>
          <a:bodyPr wrap="square">
            <a:spAutoFit/>
          </a:bodyPr>
          <a:lstStyle/>
          <a:p>
            <a:pPr>
              <a:buNone/>
            </a:pPr>
            <a:r>
              <a:rPr lang="en-IN" b="1" dirty="0"/>
              <a:t>Example 2:</a:t>
            </a:r>
            <a:endParaRPr lang="en-IN" dirty="0"/>
          </a:p>
          <a:p>
            <a:pPr>
              <a:buNone/>
            </a:pPr>
            <a:r>
              <a:rPr lang="en-IN" b="1" dirty="0"/>
              <a:t>Model A:</a:t>
            </a:r>
            <a:endParaRPr lang="en-IN" dirty="0"/>
          </a:p>
          <a:p>
            <a:pPr>
              <a:buFont typeface="Arial" panose="020B0604020202020204" pitchFamily="34" charset="0"/>
              <a:buChar char="•"/>
            </a:pPr>
            <a:r>
              <a:rPr lang="en-IN" dirty="0"/>
              <a:t>Precision = 80</a:t>
            </a:r>
          </a:p>
          <a:p>
            <a:pPr>
              <a:buFont typeface="Arial" panose="020B0604020202020204" pitchFamily="34" charset="0"/>
              <a:buChar char="•"/>
            </a:pPr>
            <a:r>
              <a:rPr lang="en-IN" dirty="0"/>
              <a:t>Recall = 80</a:t>
            </a:r>
          </a:p>
          <a:p>
            <a:pPr>
              <a:buNone/>
            </a:pPr>
            <a:r>
              <a:rPr lang="en-IN" b="1" dirty="0"/>
              <a:t>Model B:</a:t>
            </a:r>
            <a:endParaRPr lang="en-IN" dirty="0"/>
          </a:p>
          <a:p>
            <a:pPr>
              <a:buFont typeface="Arial" panose="020B0604020202020204" pitchFamily="34" charset="0"/>
              <a:buChar char="•"/>
            </a:pPr>
            <a:r>
              <a:rPr lang="en-IN" dirty="0"/>
              <a:t>Precision = 60</a:t>
            </a:r>
          </a:p>
          <a:p>
            <a:pPr>
              <a:buFont typeface="Arial" panose="020B0604020202020204" pitchFamily="34" charset="0"/>
              <a:buChar char="•"/>
            </a:pPr>
            <a:r>
              <a:rPr lang="en-IN" dirty="0"/>
              <a:t>Recall = 100</a:t>
            </a:r>
          </a:p>
        </p:txBody>
      </p:sp>
      <p:sp>
        <p:nvSpPr>
          <p:cNvPr id="5" name="TextBox 4">
            <a:extLst>
              <a:ext uri="{FF2B5EF4-FFF2-40B4-BE49-F238E27FC236}">
                <a16:creationId xmlns:a16="http://schemas.microsoft.com/office/drawing/2014/main" id="{F516BA63-5D75-55F1-D37F-42154DDE2299}"/>
              </a:ext>
            </a:extLst>
          </p:cNvPr>
          <p:cNvSpPr txBox="1"/>
          <p:nvPr/>
        </p:nvSpPr>
        <p:spPr>
          <a:xfrm>
            <a:off x="206477" y="2585488"/>
            <a:ext cx="6096000" cy="1200329"/>
          </a:xfrm>
          <a:prstGeom prst="rect">
            <a:avLst/>
          </a:prstGeom>
          <a:noFill/>
        </p:spPr>
        <p:txBody>
          <a:bodyPr wrap="square">
            <a:spAutoFit/>
          </a:bodyPr>
          <a:lstStyle/>
          <a:p>
            <a:pPr>
              <a:buNone/>
            </a:pPr>
            <a:r>
              <a:rPr lang="en-US" b="1" dirty="0"/>
              <a:t>Arithmetic Mean:</a:t>
            </a:r>
            <a:endParaRPr lang="en-US" dirty="0"/>
          </a:p>
          <a:p>
            <a:pPr>
              <a:buFont typeface="Arial" panose="020B0604020202020204" pitchFamily="34" charset="0"/>
              <a:buChar char="•"/>
            </a:pPr>
            <a:r>
              <a:rPr lang="en-US" dirty="0"/>
              <a:t>Model A: (80 + 80) / 2 = 80</a:t>
            </a:r>
          </a:p>
          <a:p>
            <a:pPr>
              <a:buFont typeface="Arial" panose="020B0604020202020204" pitchFamily="34" charset="0"/>
              <a:buChar char="•"/>
            </a:pPr>
            <a:r>
              <a:rPr lang="en-US" dirty="0"/>
              <a:t>Model B: (60 + 100) / 2 = 80</a:t>
            </a:r>
          </a:p>
          <a:p>
            <a:pPr>
              <a:buNone/>
            </a:pPr>
            <a:r>
              <a:rPr lang="en-US" dirty="0"/>
              <a:t>Both would have the same average!</a:t>
            </a:r>
          </a:p>
        </p:txBody>
      </p:sp>
      <p:sp>
        <p:nvSpPr>
          <p:cNvPr id="7" name="TextBox 6">
            <a:extLst>
              <a:ext uri="{FF2B5EF4-FFF2-40B4-BE49-F238E27FC236}">
                <a16:creationId xmlns:a16="http://schemas.microsoft.com/office/drawing/2014/main" id="{B6B583A8-1F4E-1313-FDF5-A7179AB6988A}"/>
              </a:ext>
            </a:extLst>
          </p:cNvPr>
          <p:cNvSpPr txBox="1"/>
          <p:nvPr/>
        </p:nvSpPr>
        <p:spPr>
          <a:xfrm>
            <a:off x="206477" y="3821194"/>
            <a:ext cx="6096000" cy="2862322"/>
          </a:xfrm>
          <a:prstGeom prst="rect">
            <a:avLst/>
          </a:prstGeom>
          <a:noFill/>
        </p:spPr>
        <p:txBody>
          <a:bodyPr wrap="square">
            <a:spAutoFit/>
          </a:bodyPr>
          <a:lstStyle/>
          <a:p>
            <a:pPr>
              <a:buNone/>
            </a:pPr>
            <a:r>
              <a:rPr lang="en-US" b="1" dirty="0"/>
              <a:t>F1 Score (Harmonic Mean):</a:t>
            </a:r>
            <a:endParaRPr lang="en-US" dirty="0"/>
          </a:p>
          <a:p>
            <a:pPr>
              <a:buFont typeface="Arial" panose="020B0604020202020204" pitchFamily="34" charset="0"/>
              <a:buChar char="•"/>
            </a:pPr>
            <a:r>
              <a:rPr lang="en-US" dirty="0"/>
              <a:t>Model A: (2 × 80 × 80) / (80 + 80) = 12,800 / 160 = </a:t>
            </a:r>
            <a:r>
              <a:rPr lang="en-US" b="1" dirty="0"/>
              <a:t>80</a:t>
            </a:r>
            <a:endParaRPr lang="en-US" dirty="0"/>
          </a:p>
          <a:p>
            <a:pPr>
              <a:buFont typeface="Arial" panose="020B0604020202020204" pitchFamily="34" charset="0"/>
              <a:buChar char="•"/>
            </a:pPr>
            <a:r>
              <a:rPr lang="en-US" dirty="0"/>
              <a:t>Model B: (2 × 60 × 100) / (60 + 100) = 12,000 / 160 = </a:t>
            </a:r>
            <a:r>
              <a:rPr lang="en-US" b="1" dirty="0"/>
              <a:t>75</a:t>
            </a:r>
            <a:endParaRPr lang="en-US" dirty="0"/>
          </a:p>
          <a:p>
            <a:pPr>
              <a:buNone/>
            </a:pPr>
            <a:r>
              <a:rPr lang="en-US" dirty="0"/>
              <a:t>Model B gets penalized for having low Precision (60), so its F1 Score is lower!</a:t>
            </a:r>
          </a:p>
          <a:p>
            <a:pPr>
              <a:buNone/>
            </a:pPr>
            <a:r>
              <a:rPr lang="en-US" b="1" dirty="0"/>
              <a:t>The Role of Harmonic Mean</a:t>
            </a:r>
          </a:p>
          <a:p>
            <a:pPr>
              <a:buNone/>
            </a:pPr>
            <a:r>
              <a:rPr lang="en-US" dirty="0"/>
              <a:t>Harmonic Mean always leans toward the </a:t>
            </a:r>
            <a:r>
              <a:rPr lang="en-US" b="1" dirty="0"/>
              <a:t>lower value</a:t>
            </a:r>
            <a:r>
              <a:rPr lang="en-US" dirty="0"/>
              <a:t>, not the higher value. Arithmetic Mean stays in the center. This ensures that if your model has either low Precision OR low Recall, the F1 Score will reflect that weakness.</a:t>
            </a:r>
          </a:p>
        </p:txBody>
      </p:sp>
    </p:spTree>
    <p:extLst>
      <p:ext uri="{BB962C8B-B14F-4D97-AF65-F5344CB8AC3E}">
        <p14:creationId xmlns:p14="http://schemas.microsoft.com/office/powerpoint/2010/main" val="1221976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5032A3-0368-7A44-B71F-21D5F9012F9B}"/>
              </a:ext>
            </a:extLst>
          </p:cNvPr>
          <p:cNvSpPr txBox="1"/>
          <p:nvPr/>
        </p:nvSpPr>
        <p:spPr>
          <a:xfrm>
            <a:off x="294968" y="570722"/>
            <a:ext cx="6096000" cy="923330"/>
          </a:xfrm>
          <a:prstGeom prst="rect">
            <a:avLst/>
          </a:prstGeom>
          <a:noFill/>
        </p:spPr>
        <p:txBody>
          <a:bodyPr wrap="square">
            <a:spAutoFit/>
          </a:bodyPr>
          <a:lstStyle/>
          <a:p>
            <a:pPr>
              <a:buNone/>
            </a:pPr>
            <a:r>
              <a:rPr lang="en-US" b="1" dirty="0"/>
              <a:t>Calculating Precision, Recall, and F1 Score Using Scikit-Learn</a:t>
            </a:r>
          </a:p>
          <a:p>
            <a:pPr>
              <a:buNone/>
            </a:pPr>
            <a:r>
              <a:rPr lang="en-US" dirty="0"/>
              <a:t>Let me quickly show you how to calculate these metrics in Python.</a:t>
            </a:r>
          </a:p>
        </p:txBody>
      </p:sp>
      <p:sp>
        <p:nvSpPr>
          <p:cNvPr id="5" name="TextBox 4">
            <a:extLst>
              <a:ext uri="{FF2B5EF4-FFF2-40B4-BE49-F238E27FC236}">
                <a16:creationId xmlns:a16="http://schemas.microsoft.com/office/drawing/2014/main" id="{580F21D5-FC6A-CE81-5D7C-5A3E6C18A916}"/>
              </a:ext>
            </a:extLst>
          </p:cNvPr>
          <p:cNvSpPr txBox="1"/>
          <p:nvPr/>
        </p:nvSpPr>
        <p:spPr>
          <a:xfrm>
            <a:off x="137652" y="1576663"/>
            <a:ext cx="6096000" cy="3139321"/>
          </a:xfrm>
          <a:prstGeom prst="rect">
            <a:avLst/>
          </a:prstGeom>
          <a:noFill/>
        </p:spPr>
        <p:txBody>
          <a:bodyPr wrap="square">
            <a:spAutoFit/>
          </a:bodyPr>
          <a:lstStyle/>
          <a:p>
            <a:r>
              <a:rPr lang="en-IN" dirty="0"/>
              <a:t>from </a:t>
            </a:r>
            <a:r>
              <a:rPr lang="en-IN" dirty="0" err="1"/>
              <a:t>sklearn.metrics</a:t>
            </a:r>
            <a:r>
              <a:rPr lang="en-IN" dirty="0"/>
              <a:t> import </a:t>
            </a:r>
            <a:r>
              <a:rPr lang="en-IN" dirty="0" err="1"/>
              <a:t>precision_score</a:t>
            </a:r>
            <a:r>
              <a:rPr lang="en-IN" dirty="0"/>
              <a:t>, </a:t>
            </a:r>
            <a:r>
              <a:rPr lang="en-IN" dirty="0" err="1"/>
              <a:t>recall_score</a:t>
            </a:r>
            <a:r>
              <a:rPr lang="en-IN" dirty="0"/>
              <a:t>, f1_score</a:t>
            </a:r>
          </a:p>
          <a:p>
            <a:endParaRPr lang="en-IN" dirty="0"/>
          </a:p>
          <a:p>
            <a:r>
              <a:rPr lang="en-IN" dirty="0"/>
              <a:t># For Logistic Regression model</a:t>
            </a:r>
          </a:p>
          <a:p>
            <a:r>
              <a:rPr lang="en-IN" dirty="0"/>
              <a:t>precision = </a:t>
            </a:r>
            <a:r>
              <a:rPr lang="en-IN" dirty="0" err="1"/>
              <a:t>precision_score</a:t>
            </a:r>
            <a:r>
              <a:rPr lang="en-IN" dirty="0"/>
              <a:t>(</a:t>
            </a:r>
            <a:r>
              <a:rPr lang="en-IN" dirty="0" err="1"/>
              <a:t>y_test</a:t>
            </a:r>
            <a:r>
              <a:rPr lang="en-IN" dirty="0"/>
              <a:t>, </a:t>
            </a:r>
            <a:r>
              <a:rPr lang="en-IN" dirty="0" err="1"/>
              <a:t>y_pred_lr</a:t>
            </a:r>
            <a:r>
              <a:rPr lang="en-IN" dirty="0"/>
              <a:t>)</a:t>
            </a:r>
          </a:p>
          <a:p>
            <a:r>
              <a:rPr lang="en-IN" dirty="0"/>
              <a:t>recall = </a:t>
            </a:r>
            <a:r>
              <a:rPr lang="en-IN" dirty="0" err="1"/>
              <a:t>recall_score</a:t>
            </a:r>
            <a:r>
              <a:rPr lang="en-IN" dirty="0"/>
              <a:t>(</a:t>
            </a:r>
            <a:r>
              <a:rPr lang="en-IN" dirty="0" err="1"/>
              <a:t>y_test</a:t>
            </a:r>
            <a:r>
              <a:rPr lang="en-IN" dirty="0"/>
              <a:t>, </a:t>
            </a:r>
            <a:r>
              <a:rPr lang="en-IN" dirty="0" err="1"/>
              <a:t>y_pred_lr</a:t>
            </a:r>
            <a:r>
              <a:rPr lang="en-IN" dirty="0"/>
              <a:t>)</a:t>
            </a:r>
          </a:p>
          <a:p>
            <a:r>
              <a:rPr lang="en-IN" dirty="0"/>
              <a:t>f1 = f1_score(</a:t>
            </a:r>
            <a:r>
              <a:rPr lang="en-IN" dirty="0" err="1"/>
              <a:t>y_test</a:t>
            </a:r>
            <a:r>
              <a:rPr lang="en-IN" dirty="0"/>
              <a:t>, </a:t>
            </a:r>
            <a:r>
              <a:rPr lang="en-IN" dirty="0" err="1"/>
              <a:t>y_pred_lr</a:t>
            </a:r>
            <a:r>
              <a:rPr lang="en-IN" dirty="0"/>
              <a:t>)</a:t>
            </a:r>
          </a:p>
          <a:p>
            <a:endParaRPr lang="en-IN" dirty="0"/>
          </a:p>
          <a:p>
            <a:r>
              <a:rPr lang="en-IN" dirty="0"/>
              <a:t>print(</a:t>
            </a:r>
            <a:r>
              <a:rPr lang="en-IN" dirty="0" err="1"/>
              <a:t>f"Precision</a:t>
            </a:r>
            <a:r>
              <a:rPr lang="en-IN" dirty="0"/>
              <a:t>: {precision}")</a:t>
            </a:r>
          </a:p>
          <a:p>
            <a:r>
              <a:rPr lang="en-IN" dirty="0"/>
              <a:t>print(</a:t>
            </a:r>
            <a:r>
              <a:rPr lang="en-IN" dirty="0" err="1"/>
              <a:t>f"Recall</a:t>
            </a:r>
            <a:r>
              <a:rPr lang="en-IN" dirty="0"/>
              <a:t>: {recall}")</a:t>
            </a:r>
          </a:p>
          <a:p>
            <a:r>
              <a:rPr lang="en-IN" dirty="0"/>
              <a:t>print(f"F1 Score: {f1}")</a:t>
            </a:r>
          </a:p>
        </p:txBody>
      </p:sp>
      <p:sp>
        <p:nvSpPr>
          <p:cNvPr id="7" name="TextBox 6">
            <a:extLst>
              <a:ext uri="{FF2B5EF4-FFF2-40B4-BE49-F238E27FC236}">
                <a16:creationId xmlns:a16="http://schemas.microsoft.com/office/drawing/2014/main" id="{2564F04C-5186-D34A-63A1-1B67F70B3744}"/>
              </a:ext>
            </a:extLst>
          </p:cNvPr>
          <p:cNvSpPr txBox="1"/>
          <p:nvPr/>
        </p:nvSpPr>
        <p:spPr>
          <a:xfrm>
            <a:off x="137652" y="5086949"/>
            <a:ext cx="6096000" cy="1200329"/>
          </a:xfrm>
          <a:prstGeom prst="rect">
            <a:avLst/>
          </a:prstGeom>
          <a:noFill/>
        </p:spPr>
        <p:txBody>
          <a:bodyPr wrap="square">
            <a:spAutoFit/>
          </a:bodyPr>
          <a:lstStyle/>
          <a:p>
            <a:pPr>
              <a:buNone/>
            </a:pPr>
            <a:r>
              <a:rPr lang="en-US" dirty="0"/>
              <a:t>Results show:</a:t>
            </a:r>
          </a:p>
          <a:p>
            <a:pPr>
              <a:buFont typeface="Arial" panose="020B0604020202020204" pitchFamily="34" charset="0"/>
              <a:buChar char="•"/>
            </a:pPr>
            <a:r>
              <a:rPr lang="en-US" dirty="0"/>
              <a:t>Precision = 0.82</a:t>
            </a:r>
          </a:p>
          <a:p>
            <a:pPr>
              <a:buFont typeface="Arial" panose="020B0604020202020204" pitchFamily="34" charset="0"/>
              <a:buChar char="•"/>
            </a:pPr>
            <a:r>
              <a:rPr lang="en-US" dirty="0"/>
              <a:t>Recall = 0.89</a:t>
            </a:r>
          </a:p>
          <a:p>
            <a:pPr>
              <a:buFont typeface="Arial" panose="020B0604020202020204" pitchFamily="34" charset="0"/>
              <a:buChar char="•"/>
            </a:pPr>
            <a:r>
              <a:rPr lang="en-US" dirty="0"/>
              <a:t>F1 Score = 0.85 (slightly tilted toward Precision since it's lower)</a:t>
            </a:r>
          </a:p>
        </p:txBody>
      </p:sp>
    </p:spTree>
    <p:extLst>
      <p:ext uri="{BB962C8B-B14F-4D97-AF65-F5344CB8AC3E}">
        <p14:creationId xmlns:p14="http://schemas.microsoft.com/office/powerpoint/2010/main" val="1920609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61A15B-56BA-7897-3010-2F41AA1E1173}"/>
              </a:ext>
            </a:extLst>
          </p:cNvPr>
          <p:cNvSpPr txBox="1"/>
          <p:nvPr/>
        </p:nvSpPr>
        <p:spPr>
          <a:xfrm>
            <a:off x="383458" y="100128"/>
            <a:ext cx="10658168" cy="2862322"/>
          </a:xfrm>
          <a:prstGeom prst="rect">
            <a:avLst/>
          </a:prstGeom>
          <a:noFill/>
        </p:spPr>
        <p:txBody>
          <a:bodyPr wrap="square">
            <a:spAutoFit/>
          </a:bodyPr>
          <a:lstStyle/>
          <a:p>
            <a:pPr>
              <a:buNone/>
            </a:pPr>
            <a:r>
              <a:rPr lang="en-US" b="1" dirty="0"/>
              <a:t>Multi-Class Precision and Recall</a:t>
            </a:r>
          </a:p>
          <a:p>
            <a:pPr>
              <a:buNone/>
            </a:pPr>
            <a:r>
              <a:rPr lang="en-US" dirty="0"/>
              <a:t>Now let's discuss something you won't find explained in many places: </a:t>
            </a:r>
            <a:r>
              <a:rPr lang="en-US" b="1" dirty="0"/>
              <a:t>how to calculate Precision, Recall, and F1 Score for multi-class classification problems</a:t>
            </a:r>
            <a:r>
              <a:rPr lang="en-US" dirty="0"/>
              <a:t> (when you have more than 2 classes).</a:t>
            </a:r>
          </a:p>
          <a:p>
            <a:pPr>
              <a:buNone/>
            </a:pPr>
            <a:r>
              <a:rPr lang="en-US" b="1" dirty="0"/>
              <a:t>Difference Between Binary and Multi-Class</a:t>
            </a:r>
          </a:p>
          <a:p>
            <a:pPr>
              <a:buNone/>
            </a:pPr>
            <a:r>
              <a:rPr lang="en-US" dirty="0"/>
              <a:t>In </a:t>
            </a:r>
            <a:r>
              <a:rPr lang="en-US" b="1" dirty="0"/>
              <a:t>binary classification</a:t>
            </a:r>
            <a:r>
              <a:rPr lang="en-US" dirty="0"/>
              <a:t>, you typically have:</a:t>
            </a:r>
          </a:p>
          <a:p>
            <a:pPr>
              <a:buFont typeface="Arial" panose="020B0604020202020204" pitchFamily="34" charset="0"/>
              <a:buChar char="•"/>
            </a:pPr>
            <a:r>
              <a:rPr lang="en-US" dirty="0"/>
              <a:t>Yes/No</a:t>
            </a:r>
          </a:p>
          <a:p>
            <a:pPr>
              <a:buFont typeface="Arial" panose="020B0604020202020204" pitchFamily="34" charset="0"/>
              <a:buChar char="•"/>
            </a:pPr>
            <a:r>
              <a:rPr lang="en-US" dirty="0"/>
              <a:t>Cancer/No Cancer</a:t>
            </a:r>
          </a:p>
          <a:p>
            <a:pPr>
              <a:buFont typeface="Arial" panose="020B0604020202020204" pitchFamily="34" charset="0"/>
              <a:buChar char="•"/>
            </a:pPr>
            <a:r>
              <a:rPr lang="en-US" dirty="0"/>
              <a:t>Spam/Not Spam</a:t>
            </a:r>
          </a:p>
          <a:p>
            <a:pPr>
              <a:buFont typeface="Arial" panose="020B0604020202020204" pitchFamily="34" charset="0"/>
              <a:buChar char="•"/>
            </a:pPr>
            <a:r>
              <a:rPr lang="en-US" dirty="0"/>
              <a:t>Placement/No Placement</a:t>
            </a:r>
          </a:p>
          <a:p>
            <a:pPr>
              <a:buNone/>
            </a:pPr>
            <a:r>
              <a:rPr lang="en-US" dirty="0"/>
              <a:t>We focus heavily on the </a:t>
            </a:r>
            <a:r>
              <a:rPr lang="en-US" b="1" dirty="0"/>
              <a:t>positive class</a:t>
            </a:r>
            <a:r>
              <a:rPr lang="en-US" dirty="0"/>
              <a:t> (the "1" class). All our definitions revolve around the positive class.</a:t>
            </a:r>
          </a:p>
        </p:txBody>
      </p:sp>
      <p:sp>
        <p:nvSpPr>
          <p:cNvPr id="5" name="TextBox 4">
            <a:extLst>
              <a:ext uri="{FF2B5EF4-FFF2-40B4-BE49-F238E27FC236}">
                <a16:creationId xmlns:a16="http://schemas.microsoft.com/office/drawing/2014/main" id="{ABE32768-2107-E102-3FD8-1A0843CDA52F}"/>
              </a:ext>
            </a:extLst>
          </p:cNvPr>
          <p:cNvSpPr txBox="1"/>
          <p:nvPr/>
        </p:nvSpPr>
        <p:spPr>
          <a:xfrm>
            <a:off x="383458" y="3190000"/>
            <a:ext cx="10835148" cy="2585323"/>
          </a:xfrm>
          <a:prstGeom prst="rect">
            <a:avLst/>
          </a:prstGeom>
          <a:noFill/>
        </p:spPr>
        <p:txBody>
          <a:bodyPr wrap="square">
            <a:spAutoFit/>
          </a:bodyPr>
          <a:lstStyle/>
          <a:p>
            <a:pPr>
              <a:buNone/>
            </a:pPr>
            <a:r>
              <a:rPr lang="en-US" dirty="0"/>
              <a:t>We focus heavily on the </a:t>
            </a:r>
            <a:r>
              <a:rPr lang="en-US" b="1" dirty="0"/>
              <a:t>positive class</a:t>
            </a:r>
            <a:r>
              <a:rPr lang="en-US" dirty="0"/>
              <a:t> (the "1" class). All our definitions revolve around the positive class.</a:t>
            </a:r>
          </a:p>
          <a:p>
            <a:pPr>
              <a:buNone/>
            </a:pPr>
            <a:r>
              <a:rPr lang="en-US" dirty="0"/>
              <a:t>For example, Precision definition:</a:t>
            </a:r>
          </a:p>
          <a:p>
            <a:pPr>
              <a:buNone/>
            </a:pPr>
            <a:r>
              <a:rPr lang="en-US" dirty="0"/>
              <a:t>"What proportion of predicted positives is truly positive?"</a:t>
            </a:r>
          </a:p>
          <a:p>
            <a:pPr>
              <a:buNone/>
            </a:pPr>
            <a:r>
              <a:rPr lang="en-US" dirty="0"/>
              <a:t>The entire focus is on the </a:t>
            </a:r>
            <a:r>
              <a:rPr lang="en-US" b="1" dirty="0"/>
              <a:t>positive class</a:t>
            </a:r>
            <a:r>
              <a:rPr lang="en-US" dirty="0"/>
              <a:t>, not the negative class.</a:t>
            </a:r>
          </a:p>
          <a:p>
            <a:pPr>
              <a:buNone/>
            </a:pPr>
            <a:r>
              <a:rPr lang="en-US" b="1" dirty="0"/>
              <a:t>Behind the Scenes</a:t>
            </a:r>
          </a:p>
          <a:p>
            <a:pPr>
              <a:buNone/>
            </a:pPr>
            <a:r>
              <a:rPr lang="en-US" dirty="0"/>
              <a:t>Actually, behind the scenes, when you calculate Precision for binary classification, you're calculating it for </a:t>
            </a:r>
            <a:r>
              <a:rPr lang="en-US" b="1" dirty="0"/>
              <a:t>both classes</a:t>
            </a:r>
            <a:r>
              <a:rPr lang="en-US" dirty="0"/>
              <a:t>:</a:t>
            </a:r>
          </a:p>
          <a:p>
            <a:pPr>
              <a:buFont typeface="+mj-lt"/>
              <a:buAutoNum type="arabicPeriod"/>
            </a:pPr>
            <a:r>
              <a:rPr lang="en-US" dirty="0"/>
              <a:t>Precision for positive class</a:t>
            </a:r>
          </a:p>
          <a:p>
            <a:pPr>
              <a:buFont typeface="+mj-lt"/>
              <a:buAutoNum type="arabicPeriod"/>
            </a:pPr>
            <a:r>
              <a:rPr lang="en-US" dirty="0"/>
              <a:t>Precision for negative class</a:t>
            </a:r>
          </a:p>
        </p:txBody>
      </p:sp>
    </p:spTree>
    <p:extLst>
      <p:ext uri="{BB962C8B-B14F-4D97-AF65-F5344CB8AC3E}">
        <p14:creationId xmlns:p14="http://schemas.microsoft.com/office/powerpoint/2010/main" val="2089582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39F9B7-2421-70F4-AAFE-89AC5F7E5395}"/>
              </a:ext>
            </a:extLst>
          </p:cNvPr>
          <p:cNvSpPr>
            <a:spLocks noChangeArrowheads="1"/>
          </p:cNvSpPr>
          <p:nvPr/>
        </p:nvSpPr>
        <p:spPr bwMode="auto">
          <a:xfrm>
            <a:off x="0" y="6882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Let me show you in code: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8331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542C35-7BED-797F-0A91-B83CB839FCA8}"/>
              </a:ext>
            </a:extLst>
          </p:cNvPr>
          <p:cNvSpPr txBox="1"/>
          <p:nvPr/>
        </p:nvSpPr>
        <p:spPr>
          <a:xfrm>
            <a:off x="137652" y="-8168658"/>
            <a:ext cx="11838037" cy="31116210"/>
          </a:xfrm>
          <a:prstGeom prst="rect">
            <a:avLst/>
          </a:prstGeom>
          <a:noFill/>
        </p:spPr>
        <p:txBody>
          <a:bodyPr wrap="square">
            <a:spAutoFit/>
          </a:bodyPr>
          <a:lstStyle/>
          <a:p>
            <a:r>
              <a:rPr lang="en-IN" dirty="0"/>
              <a:t># Default </a:t>
            </a:r>
            <a:r>
              <a:rPr lang="en-IN" dirty="0" err="1"/>
              <a:t>behavior</a:t>
            </a:r>
            <a:r>
              <a:rPr lang="en-IN" dirty="0"/>
              <a:t> (returns single value)</a:t>
            </a:r>
          </a:p>
          <a:p>
            <a:r>
              <a:rPr lang="en-IN" dirty="0" err="1"/>
              <a:t>precision_score</a:t>
            </a:r>
            <a:r>
              <a:rPr lang="en-IN" dirty="0"/>
              <a:t>(</a:t>
            </a:r>
            <a:r>
              <a:rPr lang="en-IN" dirty="0" err="1"/>
              <a:t>y_test</a:t>
            </a:r>
            <a:r>
              <a:rPr lang="en-IN" dirty="0"/>
              <a:t>, </a:t>
            </a:r>
            <a:r>
              <a:rPr lang="en-IN" dirty="0" err="1"/>
              <a:t>y_pred</a:t>
            </a:r>
            <a:r>
              <a:rPr lang="en-IN" dirty="0"/>
              <a:t>, average='binary')</a:t>
            </a:r>
          </a:p>
          <a:p>
            <a:endParaRPr lang="en-IN" dirty="0"/>
          </a:p>
          <a:p>
            <a:r>
              <a:rPr lang="en-IN" dirty="0"/>
              <a:t># See all class precisions</a:t>
            </a:r>
          </a:p>
          <a:p>
            <a:r>
              <a:rPr lang="en-IN" dirty="0" err="1"/>
              <a:t>precision_score</a:t>
            </a:r>
            <a:r>
              <a:rPr lang="en-IN" dirty="0"/>
              <a:t>(</a:t>
            </a:r>
            <a:r>
              <a:rPr lang="en-IN" dirty="0" err="1"/>
              <a:t>y_test</a:t>
            </a:r>
            <a:r>
              <a:rPr lang="en-IN" dirty="0"/>
              <a:t>, </a:t>
            </a:r>
            <a:r>
              <a:rPr lang="en-IN" dirty="0" err="1"/>
              <a:t>y_pred</a:t>
            </a:r>
            <a:r>
              <a:rPr lang="en-IN" dirty="0"/>
              <a:t>, average=None)</a:t>
            </a:r>
          </a:p>
          <a:p>
            <a:r>
              <a:rPr lang="en-IN" dirty="0"/>
              <a:t># Output: [0.94, 0.86]  # [Class 0, Class 1]</a:t>
            </a:r>
          </a:p>
          <a:p>
            <a:r>
              <a:rPr lang="en-IN" dirty="0"/>
              <a:t>```</a:t>
            </a:r>
          </a:p>
          <a:p>
            <a:endParaRPr lang="en-IN" dirty="0"/>
          </a:p>
          <a:p>
            <a:r>
              <a:rPr lang="en-IN" dirty="0"/>
              <a:t>We typically only use the **Class 1** (positive class) value and ignore Class 0.</a:t>
            </a:r>
          </a:p>
          <a:p>
            <a:endParaRPr lang="en-IN" dirty="0"/>
          </a:p>
          <a:p>
            <a:r>
              <a:rPr lang="en-IN" dirty="0"/>
              <a:t>### Multi-Class Classification Example</a:t>
            </a:r>
          </a:p>
          <a:p>
            <a:endParaRPr lang="en-IN" dirty="0"/>
          </a:p>
          <a:p>
            <a:r>
              <a:rPr lang="en-IN" dirty="0"/>
              <a:t>Let's say you're building a classifier with **3 classes**:</a:t>
            </a:r>
          </a:p>
          <a:p>
            <a:r>
              <a:rPr lang="en-IN" dirty="0"/>
              <a:t>- Dog</a:t>
            </a:r>
          </a:p>
          <a:p>
            <a:r>
              <a:rPr lang="en-IN" dirty="0"/>
              <a:t>- Cat  </a:t>
            </a:r>
          </a:p>
          <a:p>
            <a:r>
              <a:rPr lang="en-IN" dirty="0"/>
              <a:t>- Rabbit</a:t>
            </a:r>
          </a:p>
          <a:p>
            <a:endParaRPr lang="en-IN" dirty="0"/>
          </a:p>
          <a:p>
            <a:r>
              <a:rPr lang="en-IN" dirty="0"/>
              <a:t>Here's the confusion matrix:</a:t>
            </a:r>
          </a:p>
          <a:p>
            <a:endParaRPr lang="en-IN" dirty="0"/>
          </a:p>
          <a:p>
            <a:r>
              <a:rPr lang="en-IN" dirty="0"/>
              <a:t>|              | Predicted Dog | Predicted Cat | Predicted Rabbit | **Total (Actual)** |</a:t>
            </a:r>
          </a:p>
          <a:p>
            <a:r>
              <a:rPr lang="en-IN" dirty="0"/>
              <a:t>|--------------|---------------|---------------|------------------|--------------------|</a:t>
            </a:r>
          </a:p>
          <a:p>
            <a:r>
              <a:rPr lang="en-IN" dirty="0"/>
              <a:t>| **Actual Dog**    | 25            | 3             | 2                | **30**             |</a:t>
            </a:r>
          </a:p>
          <a:p>
            <a:r>
              <a:rPr lang="en-IN" dirty="0"/>
              <a:t>| **Actual Cat**    | 0             | 30            | 4                | **34**             |</a:t>
            </a:r>
          </a:p>
          <a:p>
            <a:r>
              <a:rPr lang="en-IN" dirty="0"/>
              <a:t>| **Actual Rabbit** | 4             | 10            | 20               | **34**             |</a:t>
            </a:r>
          </a:p>
          <a:p>
            <a:r>
              <a:rPr lang="en-IN" dirty="0"/>
              <a:t>| **Total (Predicted)** | **29**    | **43**        | **26**           | **98**             |</a:t>
            </a:r>
          </a:p>
          <a:p>
            <a:endParaRPr lang="en-IN" dirty="0"/>
          </a:p>
          <a:p>
            <a:r>
              <a:rPr lang="en-IN" dirty="0"/>
              <a:t>### Calculating Precision for Each Class</a:t>
            </a:r>
          </a:p>
          <a:p>
            <a:endParaRPr lang="en-IN" dirty="0"/>
          </a:p>
          <a:p>
            <a:r>
              <a:rPr lang="en-IN" dirty="0"/>
              <a:t>**Precision for Dog:**</a:t>
            </a:r>
          </a:p>
          <a:p>
            <a:r>
              <a:rPr lang="en-IN" dirty="0"/>
              <a:t>```</a:t>
            </a:r>
          </a:p>
          <a:p>
            <a:r>
              <a:rPr lang="en-IN" dirty="0"/>
              <a:t>Precision = True Positives / Total Predicted as Dog</a:t>
            </a:r>
          </a:p>
          <a:p>
            <a:r>
              <a:rPr lang="en-IN" dirty="0"/>
              <a:t>          = 25 / 29</a:t>
            </a:r>
          </a:p>
          <a:p>
            <a:r>
              <a:rPr lang="en-IN" dirty="0"/>
              <a:t>          = 0.86</a:t>
            </a:r>
          </a:p>
          <a:p>
            <a:r>
              <a:rPr lang="en-IN" dirty="0"/>
              <a:t>```</a:t>
            </a:r>
          </a:p>
          <a:p>
            <a:endParaRPr lang="en-IN" dirty="0"/>
          </a:p>
          <a:p>
            <a:r>
              <a:rPr lang="en-IN" dirty="0"/>
              <a:t>**Precision for Cat:**</a:t>
            </a:r>
          </a:p>
          <a:p>
            <a:r>
              <a:rPr lang="en-IN" dirty="0"/>
              <a:t>```</a:t>
            </a:r>
          </a:p>
          <a:p>
            <a:r>
              <a:rPr lang="en-IN" dirty="0"/>
              <a:t>Precision = 30 / 43</a:t>
            </a:r>
          </a:p>
          <a:p>
            <a:r>
              <a:rPr lang="en-IN" dirty="0"/>
              <a:t>          = 0.70</a:t>
            </a:r>
          </a:p>
          <a:p>
            <a:r>
              <a:rPr lang="en-IN" dirty="0"/>
              <a:t>```</a:t>
            </a:r>
          </a:p>
          <a:p>
            <a:endParaRPr lang="en-IN" dirty="0"/>
          </a:p>
          <a:p>
            <a:r>
              <a:rPr lang="en-IN" dirty="0"/>
              <a:t>**Precision for Rabbit:**</a:t>
            </a:r>
          </a:p>
          <a:p>
            <a:r>
              <a:rPr lang="en-IN" dirty="0"/>
              <a:t>```</a:t>
            </a:r>
          </a:p>
          <a:p>
            <a:r>
              <a:rPr lang="en-IN" dirty="0"/>
              <a:t>Precision = 20 / 26</a:t>
            </a:r>
          </a:p>
          <a:p>
            <a:r>
              <a:rPr lang="en-IN" dirty="0"/>
              <a:t>          = 0.77</a:t>
            </a:r>
          </a:p>
          <a:p>
            <a:r>
              <a:rPr lang="en-IN" dirty="0"/>
              <a:t>```</a:t>
            </a:r>
          </a:p>
          <a:p>
            <a:endParaRPr lang="en-IN" dirty="0"/>
          </a:p>
          <a:p>
            <a:r>
              <a:rPr lang="en-IN" dirty="0"/>
              <a:t>### Calculating Recall for Each Class</a:t>
            </a:r>
          </a:p>
          <a:p>
            <a:endParaRPr lang="en-IN" dirty="0"/>
          </a:p>
          <a:p>
            <a:r>
              <a:rPr lang="en-IN" dirty="0"/>
              <a:t>**Recall for Dog:**</a:t>
            </a:r>
          </a:p>
          <a:p>
            <a:r>
              <a:rPr lang="en-IN" dirty="0"/>
              <a:t>```</a:t>
            </a:r>
          </a:p>
          <a:p>
            <a:r>
              <a:rPr lang="en-IN" dirty="0"/>
              <a:t>Recall = True Positives / Total Actual Dogs</a:t>
            </a:r>
          </a:p>
          <a:p>
            <a:r>
              <a:rPr lang="en-IN" dirty="0"/>
              <a:t>       = 25 / 30</a:t>
            </a:r>
          </a:p>
          <a:p>
            <a:r>
              <a:rPr lang="en-IN" dirty="0"/>
              <a:t>       = 0.83</a:t>
            </a:r>
          </a:p>
          <a:p>
            <a:r>
              <a:rPr lang="en-IN" dirty="0"/>
              <a:t>```</a:t>
            </a:r>
          </a:p>
          <a:p>
            <a:endParaRPr lang="en-IN" dirty="0"/>
          </a:p>
          <a:p>
            <a:r>
              <a:rPr lang="en-IN" dirty="0"/>
              <a:t>**Recall for Cat:**</a:t>
            </a:r>
          </a:p>
          <a:p>
            <a:r>
              <a:rPr lang="en-IN" dirty="0"/>
              <a:t>```</a:t>
            </a:r>
          </a:p>
          <a:p>
            <a:r>
              <a:rPr lang="en-IN" dirty="0"/>
              <a:t>Recall = 30 / 34</a:t>
            </a:r>
          </a:p>
          <a:p>
            <a:r>
              <a:rPr lang="en-IN" dirty="0"/>
              <a:t>       = 0.88</a:t>
            </a:r>
          </a:p>
          <a:p>
            <a:r>
              <a:rPr lang="en-IN" dirty="0"/>
              <a:t>```</a:t>
            </a:r>
          </a:p>
          <a:p>
            <a:endParaRPr lang="en-IN" dirty="0"/>
          </a:p>
          <a:p>
            <a:r>
              <a:rPr lang="en-IN" dirty="0"/>
              <a:t>**Recall for Rabbit:**</a:t>
            </a:r>
          </a:p>
          <a:p>
            <a:r>
              <a:rPr lang="en-IN" dirty="0"/>
              <a:t>```</a:t>
            </a:r>
          </a:p>
          <a:p>
            <a:r>
              <a:rPr lang="en-IN" dirty="0"/>
              <a:t>Recall = 20 / 34</a:t>
            </a:r>
          </a:p>
          <a:p>
            <a:r>
              <a:rPr lang="en-IN" dirty="0"/>
              <a:t>       = 0.59</a:t>
            </a:r>
          </a:p>
          <a:p>
            <a:r>
              <a:rPr lang="en-IN" dirty="0"/>
              <a:t>```</a:t>
            </a:r>
          </a:p>
          <a:p>
            <a:endParaRPr lang="en-IN" dirty="0"/>
          </a:p>
          <a:p>
            <a:r>
              <a:rPr lang="en-IN" dirty="0"/>
              <a:t>### Combining Metrics: Macro vs Weighted Average</a:t>
            </a:r>
          </a:p>
          <a:p>
            <a:endParaRPr lang="en-IN" dirty="0"/>
          </a:p>
          <a:p>
            <a:r>
              <a:rPr lang="en-IN" dirty="0"/>
              <a:t>Now you have 3 Precision values and 3 Recall values. How do you combine them into a single metric?</a:t>
            </a:r>
          </a:p>
          <a:p>
            <a:endParaRPr lang="en-IN" dirty="0"/>
          </a:p>
          <a:p>
            <a:r>
              <a:rPr lang="en-IN" dirty="0"/>
              <a:t>#### Method 1: Macro Average</a:t>
            </a:r>
          </a:p>
          <a:p>
            <a:r>
              <a:rPr lang="en-IN" dirty="0"/>
              <a:t>Simply take the **average** of all class metrics:</a:t>
            </a:r>
          </a:p>
          <a:p>
            <a:r>
              <a:rPr lang="en-IN" dirty="0"/>
              <a:t>```</a:t>
            </a:r>
          </a:p>
          <a:p>
            <a:r>
              <a:rPr lang="en-IN" dirty="0"/>
              <a:t>Macro Precision = (0.86 + 0.70 + 0.77) / 3 = 0.78</a:t>
            </a:r>
          </a:p>
          <a:p>
            <a:r>
              <a:rPr lang="en-IN" dirty="0"/>
              <a:t>```</a:t>
            </a:r>
          </a:p>
          <a:p>
            <a:endParaRPr lang="en-IN" dirty="0"/>
          </a:p>
          <a:p>
            <a:r>
              <a:rPr lang="en-IN" dirty="0"/>
              <a:t>#### Method 2: Weighted Average</a:t>
            </a:r>
          </a:p>
          <a:p>
            <a:r>
              <a:rPr lang="en-IN" dirty="0"/>
              <a:t>Multiply each class metric by its **weight** (proportion in dataset):</a:t>
            </a:r>
          </a:p>
          <a:p>
            <a:r>
              <a:rPr lang="en-IN" dirty="0"/>
              <a:t>```</a:t>
            </a:r>
          </a:p>
          <a:p>
            <a:r>
              <a:rPr lang="en-IN" dirty="0"/>
              <a:t>Weighted Precision = (0.86 × 30/98) + (0.70 × 34/98) + (0.77 × 34/98)</a:t>
            </a:r>
          </a:p>
          <a:p>
            <a:r>
              <a:rPr lang="en-IN" dirty="0"/>
              <a:t>                   = 0.77</a:t>
            </a:r>
          </a:p>
          <a:p>
            <a:r>
              <a:rPr lang="en-IN" dirty="0"/>
              <a:t>```</a:t>
            </a:r>
          </a:p>
          <a:p>
            <a:endParaRPr lang="en-IN" dirty="0"/>
          </a:p>
          <a:p>
            <a:r>
              <a:rPr lang="en-IN" dirty="0"/>
              <a:t>### When to Use Which?</a:t>
            </a:r>
          </a:p>
          <a:p>
            <a:endParaRPr lang="en-IN" dirty="0"/>
          </a:p>
          <a:p>
            <a:r>
              <a:rPr lang="en-IN" dirty="0"/>
              <a:t>- **Macro Average**: Use when your classes are **balanced** (roughly equal number of samples)</a:t>
            </a:r>
          </a:p>
          <a:p>
            <a:r>
              <a:rPr lang="en-IN" dirty="0"/>
              <a:t>- **Weighted Average**: Use when your classes are **imbalanced** (some classes have many more samples)</a:t>
            </a:r>
          </a:p>
          <a:p>
            <a:endParaRPr lang="en-IN" dirty="0"/>
          </a:p>
          <a:p>
            <a:r>
              <a:rPr lang="en-IN" dirty="0"/>
              <a:t>### Calculating F1 Score for Multi-Class</a:t>
            </a:r>
          </a:p>
          <a:p>
            <a:endParaRPr lang="en-IN" dirty="0"/>
          </a:p>
          <a:p>
            <a:r>
              <a:rPr lang="en-IN" dirty="0"/>
              <a:t>Calculate F1 for each class individually:</a:t>
            </a:r>
          </a:p>
          <a:p>
            <a:endParaRPr lang="en-IN" dirty="0"/>
          </a:p>
          <a:p>
            <a:r>
              <a:rPr lang="en-IN" dirty="0"/>
              <a:t>**F1 for Dog:**</a:t>
            </a:r>
          </a:p>
          <a:p>
            <a:r>
              <a:rPr lang="en-IN" dirty="0"/>
              <a:t>```</a:t>
            </a:r>
          </a:p>
          <a:p>
            <a:r>
              <a:rPr lang="en-IN" dirty="0"/>
              <a:t>F1 = (2 × Precision × Recall) / (Precision + Recall)</a:t>
            </a:r>
          </a:p>
          <a:p>
            <a:r>
              <a:rPr lang="en-IN" dirty="0"/>
              <a:t>   = (2 × 0.86 × 0.83) / (0.86 + 0.83)</a:t>
            </a:r>
          </a:p>
          <a:p>
            <a:r>
              <a:rPr lang="en-IN" dirty="0"/>
              <a:t>   = 0.85</a:t>
            </a:r>
          </a:p>
          <a:p>
            <a:r>
              <a:rPr lang="en-IN" dirty="0"/>
              <a:t>```</a:t>
            </a:r>
          </a:p>
          <a:p>
            <a:endParaRPr lang="en-IN" dirty="0"/>
          </a:p>
          <a:p>
            <a:r>
              <a:rPr lang="en-IN" dirty="0"/>
              <a:t>**F1 for Cat:**</a:t>
            </a:r>
          </a:p>
          <a:p>
            <a:r>
              <a:rPr lang="en-IN" dirty="0"/>
              <a:t>```</a:t>
            </a:r>
          </a:p>
          <a:p>
            <a:r>
              <a:rPr lang="en-IN" dirty="0"/>
              <a:t>F1 = (2 × 0.70 × 0.88) / (0.70 + 0.88)</a:t>
            </a:r>
          </a:p>
          <a:p>
            <a:r>
              <a:rPr lang="en-IN" dirty="0"/>
              <a:t>   = 0.78</a:t>
            </a:r>
          </a:p>
          <a:p>
            <a:r>
              <a:rPr lang="en-IN" dirty="0"/>
              <a:t>```</a:t>
            </a:r>
          </a:p>
          <a:p>
            <a:endParaRPr lang="en-IN" dirty="0"/>
          </a:p>
          <a:p>
            <a:r>
              <a:rPr lang="en-IN" dirty="0"/>
              <a:t>**F1 for Rabbit:**</a:t>
            </a:r>
          </a:p>
          <a:p>
            <a:r>
              <a:rPr lang="en-IN" dirty="0"/>
              <a:t>```</a:t>
            </a:r>
          </a:p>
          <a:p>
            <a:r>
              <a:rPr lang="en-IN" dirty="0"/>
              <a:t>F1 = (2 × 0.77 × 0.59) / (0.77 + 0.59)</a:t>
            </a:r>
          </a:p>
          <a:p>
            <a:r>
              <a:rPr lang="en-IN" dirty="0"/>
              <a:t>   = 0.67</a:t>
            </a:r>
          </a:p>
        </p:txBody>
      </p:sp>
    </p:spTree>
    <p:extLst>
      <p:ext uri="{BB962C8B-B14F-4D97-AF65-F5344CB8AC3E}">
        <p14:creationId xmlns:p14="http://schemas.microsoft.com/office/powerpoint/2010/main" val="1793165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9ED1E5-C266-F427-9F12-A522D8B6FB29}"/>
              </a:ext>
            </a:extLst>
          </p:cNvPr>
          <p:cNvSpPr txBox="1"/>
          <p:nvPr/>
        </p:nvSpPr>
        <p:spPr>
          <a:xfrm>
            <a:off x="127819" y="451038"/>
            <a:ext cx="6096000" cy="1477328"/>
          </a:xfrm>
          <a:prstGeom prst="rect">
            <a:avLst/>
          </a:prstGeom>
          <a:noFill/>
        </p:spPr>
        <p:txBody>
          <a:bodyPr wrap="square">
            <a:spAutoFit/>
          </a:bodyPr>
          <a:lstStyle/>
          <a:p>
            <a:pPr>
              <a:buNone/>
            </a:pPr>
            <a:r>
              <a:rPr lang="en-US" b="1" dirty="0"/>
              <a:t>Conclusion</a:t>
            </a:r>
          </a:p>
          <a:p>
            <a:pPr>
              <a:buNone/>
            </a:pPr>
            <a:r>
              <a:rPr lang="en-US" dirty="0"/>
              <a:t>We've now covered:</a:t>
            </a:r>
          </a:p>
          <a:p>
            <a:pPr>
              <a:buFont typeface="+mj-lt"/>
              <a:buAutoNum type="arabicPeriod"/>
            </a:pPr>
            <a:r>
              <a:rPr lang="en-US" b="1" dirty="0"/>
              <a:t>Precision</a:t>
            </a:r>
            <a:r>
              <a:rPr lang="en-US" dirty="0"/>
              <a:t>: When False Positives are costly</a:t>
            </a:r>
          </a:p>
          <a:p>
            <a:pPr>
              <a:buFont typeface="+mj-lt"/>
              <a:buAutoNum type="arabicPeriod"/>
            </a:pPr>
            <a:r>
              <a:rPr lang="en-US" b="1" dirty="0"/>
              <a:t>Recall</a:t>
            </a:r>
            <a:r>
              <a:rPr lang="en-US" dirty="0"/>
              <a:t>: When False Negatives are costly</a:t>
            </a:r>
          </a:p>
          <a:p>
            <a:pPr>
              <a:buFont typeface="+mj-lt"/>
              <a:buAutoNum type="arabicPeriod"/>
            </a:pPr>
            <a:r>
              <a:rPr lang="en-US" b="1" dirty="0"/>
              <a:t>F1 Score</a:t>
            </a:r>
            <a:r>
              <a:rPr lang="en-US" dirty="0"/>
              <a:t>: When you need to balance both</a:t>
            </a:r>
          </a:p>
        </p:txBody>
      </p:sp>
    </p:spTree>
    <p:extLst>
      <p:ext uri="{BB962C8B-B14F-4D97-AF65-F5344CB8AC3E}">
        <p14:creationId xmlns:p14="http://schemas.microsoft.com/office/powerpoint/2010/main" val="3892332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1913</TotalTime>
  <Words>3289</Words>
  <Application>Microsoft Office PowerPoint</Application>
  <PresentationFormat>Widescreen</PresentationFormat>
  <Paragraphs>393</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var(--font-mono)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simran bhutani</dc:creator>
  <cp:lastModifiedBy>simran bhutani</cp:lastModifiedBy>
  <cp:revision>67</cp:revision>
  <dcterms:created xsi:type="dcterms:W3CDTF">2025-12-15T10:53:33Z</dcterms:created>
  <dcterms:modified xsi:type="dcterms:W3CDTF">2026-01-05T15:40:05Z</dcterms:modified>
</cp:coreProperties>
</file>