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1" r:id="rId2"/>
    <p:sldId id="312" r:id="rId3"/>
    <p:sldId id="313" r:id="rId4"/>
    <p:sldId id="314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8A93F-C175-7940-68C7-F4066C0EF3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053A06-DD08-75AB-ACE6-C11E3578D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7C458-0B88-A6A5-10FD-5846A758E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7B989-1F95-F48F-0F3D-195BC238B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7AE41-9DB9-9DF6-C9A7-E6C90820E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246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6AAE8-EF1B-C65F-91E5-8DD858467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0AA4F-19B8-3DAF-7E1F-7887A4EDB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4F98F-811A-B25E-E918-58DBFE16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ACB0A-7543-7CB8-2B3A-AEF3AB4E5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2843B-E43F-7D66-0841-8E53A3D01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77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DE901-DB59-BA74-E5AD-FDD328328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8101B-E1F6-13F5-1941-18958582D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CFA04-E86F-4B1E-FBFD-553FA84D7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FF78B-5837-2A96-4965-4ED5AFE08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97AFB-E810-55B9-7CDE-630F5DC3D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096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1C0AE-DC82-FA66-3A37-206A954E3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82D23-9336-D3F9-44C2-F6B6BA2022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422F4-5B3D-F3C9-D05B-FA1DCD396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DDFBF7-8CC5-684E-16DC-3B45CBE3E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D41C9-3832-764D-FDAD-F69D040B4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CC6F9-CE42-F654-70F6-13E3C31E4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82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8A44-37B6-6701-C854-600C3D062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4DE52-50B7-59F5-A6C5-CBAB7CA3A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482A9A-B439-45E4-98AC-A61BD91AF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3BBD66-D7EF-79AA-1F6A-93F430FA8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9DF1AF-A816-F23D-1967-CD64FCC19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9B9FEE-4E16-8E0E-6744-1394DE22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D42BFA-A90C-CA16-434E-59F73DBEF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9F25A8-D98C-4805-19F8-483E2CD5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130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454D-CF71-B965-8535-FE5E961F9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B5BD2-2261-D0BB-F2DE-3BF6E80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0B5EF9-492B-2CE3-3DFD-0A685412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20422E-5292-6781-5031-74E1C5BE4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146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B340FC-2651-3E63-E7B8-C3F5C934F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CEB8EC-948D-B3A3-1C1A-6F66CBD10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A9BA4-A50E-46D7-A542-77E76E21F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082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DB3C7-81AF-01EE-7A9A-88CB42497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E944D-057C-D750-A8A9-0FA38039B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5E50B-E123-FFE3-D490-AC545D21F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D3087-5A86-072E-E5BA-A72CE8E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7F1E2-E2C0-71A7-75AC-4EADB22F4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955F8E-352D-7821-EE87-CBF32394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650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AF272-5BA1-9EC0-DB54-2B1A49AD9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0FC97B-6EC2-22C9-4828-52D9433C30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CEF526-B482-6197-70A1-12A4CFCF6E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D6B74-A03F-D93B-3D09-F6F3CE241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49D4C-32BE-C91D-5ACF-CACA291C8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3E3C4-AE53-E121-07F9-D5804E5B1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309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F1C9A-89C2-ACC9-736E-FE5D00EF1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4F7DC-18C2-B276-D68C-A9FC8C0B0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17A48-0B6F-C7D3-2ACE-B4540629A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F6422-6BC4-22D1-73A7-FC9E712C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1D643-685E-1B8D-E260-102059C87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924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1BFF1F-C748-413D-2B8F-A4CD05C9AC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C67EAD-4EEB-055E-A959-9D57CAFCA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916EA-9F6F-57FA-849A-8D9258887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4D2BC-ABEB-66F7-DF21-AB3E6D397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F573D-2B07-803C-2F75-A08953938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689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6D4007-8A5B-F211-EFF5-6D2E1EB11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A1D64-7558-F0AC-1DC0-23CF06548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86330-FB0A-7057-65A5-414552EFC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68922C-24BC-4978-86AC-F18E1B68AA1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A2BB2-1C4F-9A0D-DB7D-31819C131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579E8-FC35-75DD-F68F-6F8A726E4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300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C2E192F-4862-F6E4-F5CF-8C99DA2209FD}"/>
              </a:ext>
            </a:extLst>
          </p:cNvPr>
          <p:cNvSpPr txBox="1"/>
          <p:nvPr/>
        </p:nvSpPr>
        <p:spPr>
          <a:xfrm>
            <a:off x="108155" y="3364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Classification Metrics: Accuracy and Confusion Matrix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D8C0E4-408B-DCC8-8596-1E51B4D6F837}"/>
              </a:ext>
            </a:extLst>
          </p:cNvPr>
          <p:cNvSpPr txBox="1"/>
          <p:nvPr/>
        </p:nvSpPr>
        <p:spPr>
          <a:xfrm>
            <a:off x="226141" y="984777"/>
            <a:ext cx="99305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question is: </a:t>
            </a:r>
            <a:r>
              <a:rPr lang="en-US" b="1" dirty="0"/>
              <a:t>How do we know how well a particular algorithm is performing? w</a:t>
            </a:r>
            <a:r>
              <a:rPr lang="en-IN" dirty="0"/>
              <a:t>e have </a:t>
            </a:r>
            <a:r>
              <a:rPr lang="en-IN" b="1" dirty="0"/>
              <a:t>classification metrics</a:t>
            </a:r>
            <a:r>
              <a:rPr lang="en-IN" dirty="0"/>
              <a:t> to evaluate classification models.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8B59BF-8D28-0C99-7E99-C8E5EC59E3FE}"/>
              </a:ext>
            </a:extLst>
          </p:cNvPr>
          <p:cNvSpPr txBox="1"/>
          <p:nvPr/>
        </p:nvSpPr>
        <p:spPr>
          <a:xfrm>
            <a:off x="737419" y="1910111"/>
            <a:ext cx="867205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Classification Metrics Overview</a:t>
            </a:r>
          </a:p>
          <a:p>
            <a:pPr>
              <a:buNone/>
            </a:pPr>
            <a:r>
              <a:rPr lang="en-US" dirty="0"/>
              <a:t>There are many classification metrics: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Accuracy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Confusion Matrix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Precision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Recall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F1 Score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ROC-AUC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And many more...</a:t>
            </a:r>
          </a:p>
          <a:p>
            <a:pPr>
              <a:buNone/>
            </a:pPr>
            <a:r>
              <a:rPr lang="en-US" dirty="0"/>
              <a:t>It's often said that classification metrics are more difficult to understand than regression metrics. We'll start with the simplest classification metric: </a:t>
            </a:r>
            <a:r>
              <a:rPr lang="en-US" b="1" dirty="0"/>
              <a:t>Accuracy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8258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B67F1A-5C83-C669-0CD4-F9736019DBE6}"/>
              </a:ext>
            </a:extLst>
          </p:cNvPr>
          <p:cNvSpPr txBox="1"/>
          <p:nvPr/>
        </p:nvSpPr>
        <p:spPr>
          <a:xfrm>
            <a:off x="304800" y="262531"/>
            <a:ext cx="1113994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Accuracy</a:t>
            </a:r>
          </a:p>
          <a:p>
            <a:pPr>
              <a:buNone/>
            </a:pPr>
            <a:r>
              <a:rPr lang="en-US" b="1" dirty="0"/>
              <a:t>Understanding Accuracy Through an Example</a:t>
            </a:r>
          </a:p>
          <a:p>
            <a:pPr>
              <a:buNone/>
            </a:pPr>
            <a:r>
              <a:rPr lang="en-US" dirty="0"/>
              <a:t>Let's say we have a dataset that we always use as an 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Student's CGPA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Student's IQ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Whether they got placement or not (Yes/No)</a:t>
            </a:r>
          </a:p>
          <a:p>
            <a:pPr>
              <a:buNone/>
            </a:pPr>
            <a:r>
              <a:rPr lang="en-US" dirty="0"/>
              <a:t>We have data for 1000 students.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AB58B7-D9DD-46A3-EA06-0E94967EADF2}"/>
              </a:ext>
            </a:extLst>
          </p:cNvPr>
          <p:cNvSpPr txBox="1"/>
          <p:nvPr/>
        </p:nvSpPr>
        <p:spPr>
          <a:xfrm>
            <a:off x="304800" y="2293856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Process: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First, I performed </a:t>
            </a:r>
            <a:r>
              <a:rPr lang="en-US" b="1" dirty="0"/>
              <a:t>train-test split</a:t>
            </a:r>
            <a:r>
              <a:rPr lang="en-US" dirty="0"/>
              <a:t> and divided my data into two parts: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Training set</a:t>
            </a:r>
            <a:r>
              <a:rPr lang="en-US" dirty="0"/>
              <a:t>: 800 students (used to train the model)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Test set</a:t>
            </a:r>
            <a:r>
              <a:rPr lang="en-US" dirty="0"/>
              <a:t>: 200 students (used to test the model's performance)</a:t>
            </a:r>
          </a:p>
          <a:p>
            <a:pPr>
              <a:buFont typeface="+mj-lt"/>
              <a:buAutoNum type="arabicPeriod"/>
            </a:pPr>
            <a:r>
              <a:rPr lang="en-US" dirty="0"/>
              <a:t>I used two different classification algorithms to build models: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Logistic Regression</a:t>
            </a:r>
            <a:r>
              <a:rPr lang="en-US" dirty="0"/>
              <a:t> (which we just learned)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Decision Tree</a:t>
            </a:r>
            <a:r>
              <a:rPr lang="en-US" dirty="0"/>
              <a:t> (a classification algorithm we'll learn in detail later)</a:t>
            </a:r>
          </a:p>
          <a:p>
            <a:pPr>
              <a:buFont typeface="+mj-lt"/>
              <a:buAutoNum type="arabicPeriod"/>
            </a:pPr>
            <a:r>
              <a:rPr lang="en-US" dirty="0"/>
              <a:t>I trained both models on the training data</a:t>
            </a:r>
          </a:p>
          <a:p>
            <a:pPr>
              <a:buFont typeface="+mj-lt"/>
              <a:buAutoNum type="arabicPeriod"/>
            </a:pPr>
            <a:r>
              <a:rPr lang="en-US" dirty="0"/>
              <a:t>After training, I used both models to make predictions on the test data</a:t>
            </a:r>
          </a:p>
        </p:txBody>
      </p:sp>
    </p:spTree>
    <p:extLst>
      <p:ext uri="{BB962C8B-B14F-4D97-AF65-F5344CB8AC3E}">
        <p14:creationId xmlns:p14="http://schemas.microsoft.com/office/powerpoint/2010/main" val="1250266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123562-2764-B439-5824-4BBF548AB3AD}"/>
              </a:ext>
            </a:extLst>
          </p:cNvPr>
          <p:cNvSpPr txBox="1"/>
          <p:nvPr/>
        </p:nvSpPr>
        <p:spPr>
          <a:xfrm>
            <a:off x="245806" y="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Visualizing the Predictions</a:t>
            </a:r>
          </a:p>
          <a:p>
            <a:pPr>
              <a:buNone/>
            </a:pPr>
            <a:r>
              <a:rPr lang="en-US" dirty="0"/>
              <a:t>Here's what the predictions look like: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1D8A26-AFA8-59B5-4224-AE3F60BCB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523091"/>
              </p:ext>
            </p:extLst>
          </p:nvPr>
        </p:nvGraphicFramePr>
        <p:xfrm>
          <a:off x="245806" y="957719"/>
          <a:ext cx="10515600" cy="53949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80325641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6916557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6151467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176922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Actual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Logistic Regression Prediction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Decision Tree Prediction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177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(Placed)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(Placed)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(Placed)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412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(Placed)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(Placed)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(Placed)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736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 (Not 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(Placed) 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 (Not 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0253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(Placed)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(Placed)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(Placed)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881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 (Not 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 (Not 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 (Not 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580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(Placed)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 (Not Placed) 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❌0 (Not 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555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 (Not 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 (Not 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 (Not 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064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(Placed)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(Placed)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(Placed)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469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 (Not 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 (Not 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 (Not 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78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(Placed)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(Placed)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(Placed)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8/10= </a:t>
                      </a:r>
                      <a:r>
                        <a:rPr lang="en-IN" dirty="0" err="1"/>
                        <a:t>tp+tn</a:t>
                      </a: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 err="1"/>
                        <a:t>Tp+tn+fp+fn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50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2054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7A539C-92F3-5806-57E1-18193FF23E7A}"/>
              </a:ext>
            </a:extLst>
          </p:cNvPr>
          <p:cNvSpPr txBox="1"/>
          <p:nvPr/>
        </p:nvSpPr>
        <p:spPr>
          <a:xfrm>
            <a:off x="403123" y="219811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Question:</a:t>
            </a:r>
            <a:r>
              <a:rPr lang="en-US" dirty="0"/>
              <a:t> Which model is performing better on the test data?</a:t>
            </a:r>
          </a:p>
          <a:p>
            <a:pPr>
              <a:buNone/>
            </a:pPr>
            <a:r>
              <a:rPr lang="en-US" b="1" dirty="0"/>
              <a:t>Calculating Accuracy</a:t>
            </a:r>
          </a:p>
          <a:p>
            <a:pPr>
              <a:buNone/>
            </a:pPr>
            <a:r>
              <a:rPr lang="en-US" dirty="0"/>
              <a:t>The simple solution (even a child could tell you): We'll check </a:t>
            </a:r>
            <a:r>
              <a:rPr lang="en-US" b="1" dirty="0"/>
              <a:t>how many times each model made mistakes</a:t>
            </a:r>
            <a:r>
              <a:rPr lang="en-US" dirty="0"/>
              <a:t> OR </a:t>
            </a:r>
            <a:r>
              <a:rPr lang="en-US" b="1" dirty="0"/>
              <a:t>how accurate each model is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For each student, we check if the prediction is correct or wrong.</a:t>
            </a:r>
            <a:endParaRPr lang="en-US" dirty="0"/>
          </a:p>
          <a:p>
            <a:pPr>
              <a:buNone/>
            </a:pPr>
            <a:r>
              <a:rPr lang="en-US" b="1" dirty="0"/>
              <a:t>Logistic Regression: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predictions: 10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Correct predictions: 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Accuracy = 8/10 = 0.8 = 80%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40DD2-44DA-D35F-2D87-BD3C601FD03F}"/>
              </a:ext>
            </a:extLst>
          </p:cNvPr>
          <p:cNvSpPr txBox="1"/>
          <p:nvPr/>
        </p:nvSpPr>
        <p:spPr>
          <a:xfrm>
            <a:off x="344130" y="3498869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Decision Tree: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predictions: 10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Correct predictions: 9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Accuracy = 9/10 = 0.9 = 90%</a:t>
            </a:r>
            <a:endParaRPr lang="en-US" dirty="0"/>
          </a:p>
          <a:p>
            <a:pPr>
              <a:buNone/>
            </a:pPr>
            <a:r>
              <a:rPr lang="en-US" b="1" dirty="0"/>
              <a:t>Conclusion:</a:t>
            </a:r>
            <a:r>
              <a:rPr lang="en-US" dirty="0"/>
              <a:t> Decision Tree is performing better on this data compared to Logistic Regression.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3195A-AAA4-E197-4FBB-236812F6DA0C}"/>
              </a:ext>
            </a:extLst>
          </p:cNvPr>
          <p:cNvSpPr txBox="1"/>
          <p:nvPr/>
        </p:nvSpPr>
        <p:spPr>
          <a:xfrm>
            <a:off x="344130" y="52531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Accuracy Formula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C8F0EB-A8BA-2FB3-3A98-CE4DF5FD6668}"/>
              </a:ext>
            </a:extLst>
          </p:cNvPr>
          <p:cNvSpPr txBox="1"/>
          <p:nvPr/>
        </p:nvSpPr>
        <p:spPr>
          <a:xfrm>
            <a:off x="344130" y="562252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Accuracy = Number of Correct Predictions / Total Number of Predictions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FF7DB7-256A-F174-69D6-4031E67C3B62}"/>
              </a:ext>
            </a:extLst>
          </p:cNvPr>
          <p:cNvSpPr txBox="1"/>
          <p:nvPr/>
        </p:nvSpPr>
        <p:spPr>
          <a:xfrm>
            <a:off x="265471" y="62688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This is what we call </a:t>
            </a:r>
            <a:r>
              <a:rPr lang="en-US" b="1" dirty="0"/>
              <a:t>Accuracy Score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4187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0699F5-1E8E-C335-2D3E-08CB6F152FCA}"/>
              </a:ext>
            </a:extLst>
          </p:cNvPr>
          <p:cNvSpPr txBox="1"/>
          <p:nvPr/>
        </p:nvSpPr>
        <p:spPr>
          <a:xfrm>
            <a:off x="294968" y="4805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How Much Accuracy is Good?</a:t>
            </a:r>
          </a:p>
          <a:p>
            <a:pPr>
              <a:buNone/>
            </a:pPr>
            <a:r>
              <a:rPr lang="en-US" dirty="0"/>
              <a:t>This is a subjective question that's often asked in interviews: </a:t>
            </a:r>
            <a:r>
              <a:rPr lang="en-US" b="1" dirty="0"/>
              <a:t>"How much accuracy should a model have?"</a:t>
            </a:r>
            <a:endParaRPr lang="en-US" dirty="0"/>
          </a:p>
          <a:p>
            <a:pPr>
              <a:buNone/>
            </a:pPr>
            <a:r>
              <a:rPr lang="en-US" b="1" dirty="0"/>
              <a:t>Important: There is NO single correct answer!</a:t>
            </a:r>
            <a:endParaRPr lang="en-US" dirty="0"/>
          </a:p>
          <a:p>
            <a:pPr>
              <a:buNone/>
            </a:pPr>
            <a:r>
              <a:rPr lang="en-US" dirty="0"/>
              <a:t>The answer is: </a:t>
            </a:r>
            <a:r>
              <a:rPr lang="en-US" b="1" dirty="0"/>
              <a:t>"It depends on the problem you're solving."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78EEDE-6655-BDEC-6A37-AB7A748BAA10}"/>
              </a:ext>
            </a:extLst>
          </p:cNvPr>
          <p:cNvSpPr txBox="1"/>
          <p:nvPr/>
        </p:nvSpPr>
        <p:spPr>
          <a:xfrm>
            <a:off x="373625" y="2165749"/>
            <a:ext cx="920299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1: Cancer Detection from X-rays</a:t>
            </a:r>
          </a:p>
          <a:p>
            <a:pPr>
              <a:buNone/>
            </a:pPr>
            <a:r>
              <a:rPr lang="en-US" dirty="0"/>
              <a:t>Let's say you're building a system for a hospital that scans chest X-rays to predict whether someone has cancer.</a:t>
            </a:r>
          </a:p>
          <a:p>
            <a:pPr>
              <a:buNone/>
            </a:pPr>
            <a:r>
              <a:rPr lang="en-US" dirty="0"/>
              <a:t>Your model achieves </a:t>
            </a:r>
            <a:r>
              <a:rPr lang="en-US" b="1" dirty="0"/>
              <a:t>99% accuracy</a:t>
            </a:r>
            <a:r>
              <a:rPr lang="en-US" dirty="0"/>
              <a:t> (makes correct predictions 99 out of 100 times).</a:t>
            </a:r>
          </a:p>
          <a:p>
            <a:pPr>
              <a:buNone/>
            </a:pPr>
            <a:r>
              <a:rPr lang="en-US" b="1" dirty="0"/>
              <a:t>Question:</a:t>
            </a:r>
            <a:r>
              <a:rPr lang="en-US" dirty="0"/>
              <a:t> Would you deploy this model? Would a hospital buy this model?</a:t>
            </a:r>
          </a:p>
          <a:p>
            <a:pPr>
              <a:buNone/>
            </a:pPr>
            <a:r>
              <a:rPr lang="en-US" b="1" dirty="0"/>
              <a:t>Answer:</a:t>
            </a:r>
            <a:r>
              <a:rPr lang="en-US" dirty="0"/>
              <a:t> NO! This model is very bad!</a:t>
            </a:r>
          </a:p>
          <a:p>
            <a:pPr>
              <a:buNone/>
            </a:pPr>
            <a:r>
              <a:rPr lang="en-US" dirty="0"/>
              <a:t>Why? Because 99% accuracy means 1 mistake out of 100 patients. That means </a:t>
            </a:r>
            <a:r>
              <a:rPr lang="en-US" b="1" dirty="0"/>
              <a:t>1 out of 100 patients could die</a:t>
            </a:r>
            <a:r>
              <a:rPr lang="en-US" dirty="0"/>
              <a:t> due to your model's mistake. You cannot play with someone's life! This level of accuracy is TOO LOW for such critical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188663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22B240-BFC3-3743-B1EC-083A5EB0D552}"/>
              </a:ext>
            </a:extLst>
          </p:cNvPr>
          <p:cNvSpPr txBox="1"/>
          <p:nvPr/>
        </p:nvSpPr>
        <p:spPr>
          <a:xfrm>
            <a:off x="324463" y="227099"/>
            <a:ext cx="984209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2: Self-Driving Cars</a:t>
            </a:r>
          </a:p>
          <a:p>
            <a:pPr>
              <a:buNone/>
            </a:pPr>
            <a:r>
              <a:rPr lang="en-US" dirty="0"/>
              <a:t>You're building a model for self-driving cars to decide whether to turn right or left.</a:t>
            </a:r>
          </a:p>
          <a:p>
            <a:pPr>
              <a:buNone/>
            </a:pPr>
            <a:r>
              <a:rPr lang="en-US" dirty="0"/>
              <a:t>Your model has </a:t>
            </a:r>
            <a:r>
              <a:rPr lang="en-US" b="1" dirty="0"/>
              <a:t>99% accuracy</a:t>
            </a:r>
            <a:r>
              <a:rPr lang="en-US" dirty="0"/>
              <a:t> (makes 1 mistake out of 100 decisions).</a:t>
            </a:r>
          </a:p>
          <a:p>
            <a:pPr>
              <a:buNone/>
            </a:pPr>
            <a:r>
              <a:rPr lang="en-US" b="1" dirty="0"/>
              <a:t>Would you deploy this?</a:t>
            </a:r>
            <a:r>
              <a:rPr lang="en-US" dirty="0"/>
              <a:t> NO! One mistake means one accident. Unacceptable!</a:t>
            </a:r>
          </a:p>
          <a:p>
            <a:pPr>
              <a:buNone/>
            </a:pPr>
            <a:r>
              <a:rPr lang="en-US" b="1" dirty="0"/>
              <a:t>Example 3: Food Delivery Recommendations</a:t>
            </a:r>
          </a:p>
          <a:p>
            <a:pPr>
              <a:buNone/>
            </a:pPr>
            <a:r>
              <a:rPr lang="en-US" dirty="0"/>
              <a:t>You're building a model for Zomato/Swiggy to predict whether a customer will order food this weekend based on their monthly behavior.</a:t>
            </a:r>
          </a:p>
          <a:p>
            <a:pPr>
              <a:buNone/>
            </a:pPr>
            <a:r>
              <a:rPr lang="en-US" dirty="0"/>
              <a:t>Here, even </a:t>
            </a:r>
            <a:r>
              <a:rPr lang="en-US" b="1" dirty="0"/>
              <a:t>80% accuracy</a:t>
            </a:r>
            <a:r>
              <a:rPr lang="en-US" dirty="0"/>
              <a:t> might be acceptable! If your model makes mistakes for 20 out of 100 customers, it's not a big problem. There's no major harm.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CF031A-FF60-1578-20B3-3F7260636331}"/>
              </a:ext>
            </a:extLst>
          </p:cNvPr>
          <p:cNvSpPr txBox="1"/>
          <p:nvPr/>
        </p:nvSpPr>
        <p:spPr>
          <a:xfrm>
            <a:off x="324464" y="435359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Takeaway</a:t>
            </a:r>
          </a:p>
          <a:p>
            <a:pPr>
              <a:buNone/>
            </a:pPr>
            <a:r>
              <a:rPr lang="en-US" b="1" dirty="0"/>
              <a:t>If anyone asks "How much accuracy should there be?", there's no set answer.</a:t>
            </a:r>
            <a:endParaRPr lang="en-US" dirty="0"/>
          </a:p>
          <a:p>
            <a:pPr>
              <a:buNone/>
            </a:pPr>
            <a:r>
              <a:rPr lang="en-US" dirty="0"/>
              <a:t>The correct response is: </a:t>
            </a:r>
            <a:r>
              <a:rPr lang="en-US" b="1" dirty="0"/>
              <a:t>"It depends on the problem you're solving and the nature of your data."</a:t>
            </a:r>
            <a:endParaRPr lang="en-US" dirty="0"/>
          </a:p>
          <a:p>
            <a:pPr>
              <a:buNone/>
            </a:pPr>
            <a:r>
              <a:rPr lang="en-US" dirty="0"/>
              <a:t>Different problems require different accuracy thresholds.</a:t>
            </a:r>
          </a:p>
        </p:txBody>
      </p:sp>
    </p:spTree>
    <p:extLst>
      <p:ext uri="{BB962C8B-B14F-4D97-AF65-F5344CB8AC3E}">
        <p14:creationId xmlns:p14="http://schemas.microsoft.com/office/powerpoint/2010/main" val="3625936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8D399D-1431-F85E-1D07-939874E57D50}"/>
              </a:ext>
            </a:extLst>
          </p:cNvPr>
          <p:cNvSpPr txBox="1"/>
          <p:nvPr/>
        </p:nvSpPr>
        <p:spPr>
          <a:xfrm>
            <a:off x="265471" y="429680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 Problem with Accuracy</a:t>
            </a:r>
          </a:p>
          <a:p>
            <a:pPr>
              <a:buNone/>
            </a:pPr>
            <a:r>
              <a:rPr lang="en-US" dirty="0"/>
              <a:t>Now, let's discuss a complete topic: Accuracy is a great metric for telling you how well your model is performing, </a:t>
            </a:r>
            <a:r>
              <a:rPr lang="en-US" b="1" dirty="0"/>
              <a:t>but it has some problems.</a:t>
            </a:r>
            <a:endParaRPr lang="en-US" dirty="0"/>
          </a:p>
          <a:p>
            <a:pPr>
              <a:buNone/>
            </a:pPr>
            <a:r>
              <a:rPr lang="en-US" b="1" dirty="0"/>
              <a:t>The Core Issue</a:t>
            </a:r>
          </a:p>
          <a:p>
            <a:pPr>
              <a:buNone/>
            </a:pPr>
            <a:r>
              <a:rPr lang="en-US" dirty="0"/>
              <a:t>Accuracy gives you </a:t>
            </a:r>
            <a:r>
              <a:rPr lang="en-US" b="1" dirty="0"/>
              <a:t>one number</a:t>
            </a:r>
            <a:r>
              <a:rPr lang="en-US" dirty="0"/>
              <a:t> (e.g., 90% accuracy). This means 10% mistakes are happening.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3ABD4-A60F-0DB4-4420-7976B6347ED4}"/>
              </a:ext>
            </a:extLst>
          </p:cNvPr>
          <p:cNvSpPr txBox="1"/>
          <p:nvPr/>
        </p:nvSpPr>
        <p:spPr>
          <a:xfrm>
            <a:off x="265471" y="2461005"/>
            <a:ext cx="82296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But accuracy doesn't tell you the TYPE of mistake!</a:t>
            </a:r>
            <a:endParaRPr lang="en-US" dirty="0"/>
          </a:p>
          <a:p>
            <a:pPr>
              <a:buNone/>
            </a:pPr>
            <a:r>
              <a:rPr lang="en-US" dirty="0"/>
              <a:t>Let me explain with an example. Consider a binary classification problem with two classes: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Class 1</a:t>
            </a:r>
            <a:r>
              <a:rPr lang="en-US" dirty="0"/>
              <a:t>: Patient has disease / Student gets placement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Class 0</a:t>
            </a:r>
            <a:r>
              <a:rPr lang="en-US" dirty="0"/>
              <a:t>: Patient doesn't have disease / Student doesn't get placement</a:t>
            </a:r>
          </a:p>
          <a:p>
            <a:pPr>
              <a:buNone/>
            </a:pPr>
            <a:r>
              <a:rPr lang="en-US" dirty="0"/>
              <a:t>Your model makes 10% mistakes. But these can be </a:t>
            </a:r>
            <a:r>
              <a:rPr lang="en-US" b="1" dirty="0"/>
              <a:t>two types of mistakes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b="1" dirty="0"/>
              <a:t>Type 1 Mistake: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Student got placement BUT model predicted no placement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Patient has disease BUT model predicted no disease</a:t>
            </a:r>
          </a:p>
          <a:p>
            <a:pPr>
              <a:buNone/>
            </a:pPr>
            <a:r>
              <a:rPr lang="en-US" b="1" dirty="0"/>
              <a:t>Type 2 Mistake: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Student didn't get placement BUT model predicted placement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BF645B-2744-D74B-9B6F-3A39CC138AD7}"/>
              </a:ext>
            </a:extLst>
          </p:cNvPr>
          <p:cNvSpPr txBox="1"/>
          <p:nvPr/>
        </p:nvSpPr>
        <p:spPr>
          <a:xfrm>
            <a:off x="265471" y="56003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Patient doesn't have disease BUT model predicted disease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6320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65EA20-F446-5049-EA28-B77BF1173AB5}"/>
              </a:ext>
            </a:extLst>
          </p:cNvPr>
          <p:cNvSpPr txBox="1"/>
          <p:nvPr/>
        </p:nvSpPr>
        <p:spPr>
          <a:xfrm>
            <a:off x="521110" y="56004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Accuracy only tells you mistakes happened 10% of the time, but it doesn't tell you: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How many Type-1 mistakes?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How many Type-2 mistakes?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65EA20-F446-5049-EA28-B77BF1173AB5}"/>
              </a:ext>
            </a:extLst>
          </p:cNvPr>
          <p:cNvSpPr txBox="1"/>
          <p:nvPr/>
        </p:nvSpPr>
        <p:spPr>
          <a:xfrm>
            <a:off x="521109" y="1997839"/>
            <a:ext cx="865238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Example: Heart Disease Prediction</a:t>
            </a:r>
          </a:p>
          <a:p>
            <a:r>
              <a:rPr lang="en-US" b="1" dirty="0"/>
              <a:t>Mistake Type 1:</a:t>
            </a:r>
            <a:r>
              <a:rPr lang="en-US" dirty="0"/>
              <a:t> Patient HAS heart disease, but model says NO disease</a:t>
            </a:r>
          </a:p>
          <a:p>
            <a:r>
              <a:rPr lang="en-US" b="1" dirty="0"/>
              <a:t>Mistake Type 2:</a:t>
            </a:r>
            <a:r>
              <a:rPr lang="en-US" dirty="0"/>
              <a:t> Patient DOESN'T have heart disease, but model says YES disease</a:t>
            </a:r>
          </a:p>
          <a:p>
            <a:r>
              <a:rPr lang="en-US" dirty="0"/>
              <a:t>You cannot tell from accuracy alone which type of mistake the model is making more often. </a:t>
            </a:r>
            <a:r>
              <a:rPr lang="en-US" b="1" dirty="0"/>
              <a:t>Accuracy doesn't tell you the nature of mistakes.</a:t>
            </a:r>
            <a:endParaRPr lang="en-US" dirty="0"/>
          </a:p>
          <a:p>
            <a:r>
              <a:rPr lang="en-US" dirty="0"/>
              <a:t>This is where </a:t>
            </a:r>
            <a:r>
              <a:rPr lang="en-US" b="1" dirty="0"/>
              <a:t>Confusion Matrix</a:t>
            </a:r>
            <a:r>
              <a:rPr lang="en-US" dirty="0"/>
              <a:t> comes in - it solves this problem and is very useful in classification!</a:t>
            </a:r>
          </a:p>
        </p:txBody>
      </p:sp>
    </p:spTree>
    <p:extLst>
      <p:ext uri="{BB962C8B-B14F-4D97-AF65-F5344CB8AC3E}">
        <p14:creationId xmlns:p14="http://schemas.microsoft.com/office/powerpoint/2010/main" val="553514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069E2C-D2BC-D5FA-4456-10653B1EB248}"/>
              </a:ext>
            </a:extLst>
          </p:cNvPr>
          <p:cNvSpPr txBox="1"/>
          <p:nvPr/>
        </p:nvSpPr>
        <p:spPr>
          <a:xfrm>
            <a:off x="157316" y="21506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Confusion Matrix</a:t>
            </a:r>
          </a:p>
          <a:p>
            <a:pPr>
              <a:buNone/>
            </a:pPr>
            <a:r>
              <a:rPr lang="en-US" b="1" dirty="0"/>
              <a:t>Calculating Confusion Matrix in Code</a:t>
            </a:r>
          </a:p>
          <a:p>
            <a:pPr>
              <a:buNone/>
            </a:pPr>
            <a:r>
              <a:rPr lang="en-US" dirty="0"/>
              <a:t>Before explaining what a Confusion Matrix is, let me show you how to calculate it using scikit-learn. Once you see it, it'll be easier to understand.</a:t>
            </a:r>
          </a:p>
        </p:txBody>
      </p:sp>
    </p:spTree>
    <p:extLst>
      <p:ext uri="{BB962C8B-B14F-4D97-AF65-F5344CB8AC3E}">
        <p14:creationId xmlns:p14="http://schemas.microsoft.com/office/powerpoint/2010/main" val="2785968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97EE1CA-8CE9-29E9-C1CB-7C8B7FD5343C}"/>
              </a:ext>
            </a:extLst>
          </p:cNvPr>
          <p:cNvSpPr txBox="1"/>
          <p:nvPr/>
        </p:nvSpPr>
        <p:spPr>
          <a:xfrm>
            <a:off x="442452" y="-6560918"/>
            <a:ext cx="14217445" cy="36379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 Using the same heart disease problem</a:t>
            </a:r>
          </a:p>
          <a:p>
            <a:r>
              <a:rPr lang="en-IN" dirty="0"/>
              <a:t># Accuracy was 90% for Logistic Regression and 81% for Decision Tree</a:t>
            </a:r>
          </a:p>
          <a:p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sklearn.metrics</a:t>
            </a:r>
            <a:r>
              <a:rPr lang="en-IN" dirty="0"/>
              <a:t> import </a:t>
            </a:r>
            <a:r>
              <a:rPr lang="en-IN" dirty="0" err="1"/>
              <a:t>confusion_matrix</a:t>
            </a:r>
            <a:endParaRPr lang="en-IN" dirty="0"/>
          </a:p>
          <a:p>
            <a:endParaRPr lang="en-IN" dirty="0"/>
          </a:p>
          <a:p>
            <a:r>
              <a:rPr lang="en-IN" dirty="0"/>
              <a:t># Calculate confusion matrix</a:t>
            </a:r>
          </a:p>
          <a:p>
            <a:r>
              <a:rPr lang="en-IN" dirty="0"/>
              <a:t>cm = </a:t>
            </a:r>
            <a:r>
              <a:rPr lang="en-IN" dirty="0" err="1"/>
              <a:t>confusion_matrix</a:t>
            </a:r>
            <a:r>
              <a:rPr lang="en-IN" dirty="0"/>
              <a:t>(</a:t>
            </a:r>
            <a:r>
              <a:rPr lang="en-IN" dirty="0" err="1"/>
              <a:t>y_test</a:t>
            </a:r>
            <a:r>
              <a:rPr lang="en-IN" dirty="0"/>
              <a:t>, </a:t>
            </a:r>
            <a:r>
              <a:rPr lang="en-IN" dirty="0" err="1"/>
              <a:t>y_pred_lr</a:t>
            </a:r>
            <a:r>
              <a:rPr lang="en-IN" dirty="0"/>
              <a:t>)</a:t>
            </a:r>
          </a:p>
          <a:p>
            <a:r>
              <a:rPr lang="en-IN" dirty="0"/>
              <a:t>print(cm)</a:t>
            </a:r>
          </a:p>
          <a:p>
            <a:r>
              <a:rPr lang="en-IN" dirty="0"/>
              <a:t>```</a:t>
            </a:r>
          </a:p>
          <a:p>
            <a:endParaRPr lang="en-IN" dirty="0"/>
          </a:p>
          <a:p>
            <a:r>
              <a:rPr lang="en-IN" dirty="0"/>
              <a:t>**Output:**</a:t>
            </a:r>
          </a:p>
          <a:p>
            <a:r>
              <a:rPr lang="en-IN" dirty="0"/>
              <a:t>```</a:t>
            </a:r>
          </a:p>
          <a:p>
            <a:r>
              <a:rPr lang="en-IN" dirty="0"/>
              <a:t>[[22  6]</a:t>
            </a:r>
          </a:p>
          <a:p>
            <a:r>
              <a:rPr lang="en-IN" dirty="0"/>
              <a:t> [ 0 26]]</a:t>
            </a:r>
          </a:p>
          <a:p>
            <a:r>
              <a:rPr lang="en-IN" dirty="0"/>
              <a:t>```</a:t>
            </a:r>
          </a:p>
          <a:p>
            <a:endParaRPr lang="en-IN" dirty="0"/>
          </a:p>
          <a:p>
            <a:r>
              <a:rPr lang="en-IN" dirty="0"/>
              <a:t>**Four numbers: 22, 6, 0, 26**</a:t>
            </a:r>
          </a:p>
          <a:p>
            <a:endParaRPr lang="en-IN" dirty="0"/>
          </a:p>
          <a:p>
            <a:r>
              <a:rPr lang="en-IN" dirty="0"/>
              <a:t>Pause the video and try to think: **What could these four numbers represent?**</a:t>
            </a:r>
          </a:p>
          <a:p>
            <a:endParaRPr lang="en-IN" dirty="0"/>
          </a:p>
          <a:p>
            <a:r>
              <a:rPr lang="en-IN" dirty="0"/>
              <a:t>### Understanding Confusion Matrix</a:t>
            </a:r>
          </a:p>
          <a:p>
            <a:endParaRPr lang="en-IN" dirty="0"/>
          </a:p>
          <a:p>
            <a:r>
              <a:rPr lang="en-IN" dirty="0"/>
              <a:t>Here's the structure of a confusion matrix:</a:t>
            </a:r>
          </a:p>
          <a:p>
            <a:r>
              <a:rPr lang="en-IN" dirty="0"/>
              <a:t>```</a:t>
            </a:r>
          </a:p>
          <a:p>
            <a:r>
              <a:rPr lang="en-IN" dirty="0"/>
              <a:t>                    Predicted</a:t>
            </a:r>
          </a:p>
          <a:p>
            <a:r>
              <a:rPr lang="en-IN" dirty="0"/>
              <a:t>                    0 (No)    1 (Yes)</a:t>
            </a:r>
          </a:p>
          <a:p>
            <a:r>
              <a:rPr lang="en-IN" dirty="0"/>
              <a:t>Actual    0 (No)    TN        FP</a:t>
            </a:r>
          </a:p>
          <a:p>
            <a:r>
              <a:rPr lang="en-IN" dirty="0"/>
              <a:t>          1 (Yes)   FN        TP</a:t>
            </a:r>
          </a:p>
          <a:p>
            <a:r>
              <a:rPr lang="en-IN" dirty="0"/>
              <a:t>```</a:t>
            </a:r>
          </a:p>
          <a:p>
            <a:endParaRPr lang="en-IN" dirty="0"/>
          </a:p>
          <a:p>
            <a:r>
              <a:rPr lang="en-IN" dirty="0"/>
              <a:t>**Key conventions:**</a:t>
            </a:r>
          </a:p>
          <a:p>
            <a:r>
              <a:rPr lang="en-IN" dirty="0"/>
              <a:t>- **Top row** = Predicted values</a:t>
            </a:r>
          </a:p>
          <a:p>
            <a:r>
              <a:rPr lang="en-IN" dirty="0"/>
              <a:t>- **Left column** = Actual values</a:t>
            </a:r>
          </a:p>
          <a:p>
            <a:endParaRPr lang="en-IN" dirty="0"/>
          </a:p>
          <a:p>
            <a:r>
              <a:rPr lang="en-IN" dirty="0"/>
              <a:t>(Note: Some resources show it reversed, but scikit-learn uses this format)</a:t>
            </a:r>
          </a:p>
          <a:p>
            <a:endParaRPr lang="en-IN" dirty="0"/>
          </a:p>
          <a:p>
            <a:r>
              <a:rPr lang="en-IN" dirty="0"/>
              <a:t>### Mapping Our Numbers</a:t>
            </a:r>
          </a:p>
          <a:p>
            <a:endParaRPr lang="en-IN" dirty="0"/>
          </a:p>
          <a:p>
            <a:r>
              <a:rPr lang="en-IN" dirty="0"/>
              <a:t>Using our heart disease example:</a:t>
            </a:r>
          </a:p>
          <a:p>
            <a:r>
              <a:rPr lang="en-IN" dirty="0"/>
              <a:t>```</a:t>
            </a:r>
          </a:p>
          <a:p>
            <a:r>
              <a:rPr lang="en-IN" dirty="0"/>
              <a:t>                    Predicted</a:t>
            </a:r>
          </a:p>
          <a:p>
            <a:r>
              <a:rPr lang="en-IN" dirty="0"/>
              <a:t>                    0           1</a:t>
            </a:r>
          </a:p>
          <a:p>
            <a:r>
              <a:rPr lang="en-IN" dirty="0"/>
              <a:t>Actual    0         22          0</a:t>
            </a:r>
          </a:p>
          <a:p>
            <a:r>
              <a:rPr lang="en-IN" dirty="0"/>
              <a:t>          1         6           26</a:t>
            </a:r>
          </a:p>
          <a:p>
            <a:r>
              <a:rPr lang="en-IN" dirty="0"/>
              <a:t>```</a:t>
            </a:r>
          </a:p>
          <a:p>
            <a:endParaRPr lang="en-IN" dirty="0"/>
          </a:p>
          <a:p>
            <a:r>
              <a:rPr lang="en-IN" dirty="0"/>
              <a:t>**What do these numbers mean?**</a:t>
            </a:r>
          </a:p>
          <a:p>
            <a:endParaRPr lang="en-IN" dirty="0"/>
          </a:p>
          <a:p>
            <a:r>
              <a:rPr lang="en-IN" dirty="0"/>
              <a:t>- **26 (Bottom Right)**: Model predicted heart disease AND patient actually has heart disease ✓</a:t>
            </a:r>
          </a:p>
          <a:p>
            <a:r>
              <a:rPr lang="en-IN" dirty="0"/>
              <a:t>- **22 (Top Left)**: Model predicted NO heart disease AND patient actually has NO heart disease ✓</a:t>
            </a:r>
          </a:p>
          <a:p>
            <a:r>
              <a:rPr lang="en-IN" dirty="0"/>
              <a:t>- **6 (Bottom Left)**: Model predicted NO heart disease BUT patient actually HAS heart disease ❌</a:t>
            </a:r>
          </a:p>
          <a:p>
            <a:r>
              <a:rPr lang="en-IN" dirty="0"/>
              <a:t>- **0 (Top Right)**: Model predicted heart disease BUT patient actually has NO heart disease ❌</a:t>
            </a:r>
          </a:p>
          <a:p>
            <a:endParaRPr lang="en-IN" dirty="0"/>
          </a:p>
          <a:p>
            <a:r>
              <a:rPr lang="en-IN" dirty="0"/>
              <a:t>**Green numbers (22, 26) = Correct predictions**</a:t>
            </a:r>
          </a:p>
          <a:p>
            <a:r>
              <a:rPr lang="en-IN" dirty="0"/>
              <a:t>**Red numbers (0, 6) = Incorrect predictions**</a:t>
            </a:r>
          </a:p>
          <a:p>
            <a:endParaRPr lang="en-IN" dirty="0"/>
          </a:p>
          <a:p>
            <a:r>
              <a:rPr lang="en-IN" dirty="0"/>
              <a:t>### Key Insight</a:t>
            </a:r>
          </a:p>
          <a:p>
            <a:endParaRPr lang="en-IN" dirty="0"/>
          </a:p>
          <a:p>
            <a:r>
              <a:rPr lang="en-IN" dirty="0"/>
              <a:t>**Confusion Matrix shows you:**</a:t>
            </a:r>
          </a:p>
          <a:p>
            <a:r>
              <a:rPr lang="en-IN" dirty="0"/>
              <a:t>1. How many mistakes of each type your model is making</a:t>
            </a:r>
          </a:p>
          <a:p>
            <a:r>
              <a:rPr lang="en-IN" dirty="0"/>
              <a:t>2. The nature of the mistakes</a:t>
            </a:r>
          </a:p>
          <a:p>
            <a:endParaRPr lang="en-IN" dirty="0"/>
          </a:p>
          <a:p>
            <a:r>
              <a:rPr lang="en-IN" dirty="0"/>
              <a:t>**Accuracy only showed:** Total mistakes, not the breakdown by type</a:t>
            </a:r>
          </a:p>
          <a:p>
            <a:endParaRPr lang="en-IN" dirty="0"/>
          </a:p>
          <a:p>
            <a:r>
              <a:rPr lang="en-IN" dirty="0"/>
              <a:t>### Calculating Accuracy from Confusion Matrix</a:t>
            </a:r>
          </a:p>
          <a:p>
            <a:r>
              <a:rPr lang="en-IN" dirty="0"/>
              <a:t>```</a:t>
            </a:r>
          </a:p>
          <a:p>
            <a:r>
              <a:rPr lang="en-IN" dirty="0"/>
              <a:t>Accuracy = (TP + TN) / (TP + TN + FP + FN)</a:t>
            </a:r>
          </a:p>
          <a:p>
            <a:r>
              <a:rPr lang="en-IN" dirty="0"/>
              <a:t>         = (26 + 22) / (26 + 22 + 0 + 6)</a:t>
            </a:r>
          </a:p>
          <a:p>
            <a:r>
              <a:rPr lang="en-IN" dirty="0"/>
              <a:t>         = 48 / 54</a:t>
            </a:r>
          </a:p>
          <a:p>
            <a:r>
              <a:rPr lang="en-IN" dirty="0"/>
              <a:t>         = 0.89 = 89%</a:t>
            </a:r>
          </a:p>
          <a:p>
            <a:r>
              <a:rPr lang="en-IN" dirty="0"/>
              <a:t>```</a:t>
            </a:r>
          </a:p>
          <a:p>
            <a:endParaRPr lang="en-IN" dirty="0"/>
          </a:p>
          <a:p>
            <a:r>
              <a:rPr lang="en-IN" dirty="0"/>
              <a:t>**Important:** You can calculate accuracy FROM confusion matrix, but you CANNOT calculate confusion matrix from accuracy alone!</a:t>
            </a:r>
          </a:p>
          <a:p>
            <a:endParaRPr lang="en-IN" dirty="0"/>
          </a:p>
          <a:p>
            <a:r>
              <a:rPr lang="en-IN" dirty="0"/>
              <a:t>---</a:t>
            </a:r>
          </a:p>
          <a:p>
            <a:endParaRPr lang="en-IN" dirty="0"/>
          </a:p>
          <a:p>
            <a:r>
              <a:rPr lang="en-IN" dirty="0"/>
              <a:t>## Important Terminology</a:t>
            </a:r>
          </a:p>
          <a:p>
            <a:endParaRPr lang="en-IN" dirty="0"/>
          </a:p>
          <a:p>
            <a:r>
              <a:rPr lang="en-IN" dirty="0"/>
              <a:t>You must always remember these terms:</a:t>
            </a:r>
          </a:p>
          <a:p>
            <a:endParaRPr lang="en-IN" dirty="0"/>
          </a:p>
          <a:p>
            <a:r>
              <a:rPr lang="en-IN" dirty="0"/>
              <a:t>### True Positive (TP)</a:t>
            </a:r>
          </a:p>
          <a:p>
            <a:r>
              <a:rPr lang="en-IN" dirty="0"/>
              <a:t>- Model predicted: **Positive (1)**</a:t>
            </a:r>
          </a:p>
          <a:p>
            <a:r>
              <a:rPr lang="en-IN" dirty="0"/>
              <a:t>- Reality: **Positive (1)**</a:t>
            </a:r>
          </a:p>
          <a:p>
            <a:r>
              <a:rPr lang="en-IN" dirty="0"/>
              <a:t>- **Both are TRUE** → True Positive</a:t>
            </a:r>
          </a:p>
          <a:p>
            <a:endParaRPr lang="en-IN" dirty="0"/>
          </a:p>
          <a:p>
            <a:r>
              <a:rPr lang="en-IN" dirty="0"/>
              <a:t>### False Positive (FP)</a:t>
            </a:r>
          </a:p>
          <a:p>
            <a:r>
              <a:rPr lang="en-IN" dirty="0"/>
              <a:t>- Model predicted: **Positive (1)**</a:t>
            </a:r>
          </a:p>
          <a:p>
            <a:r>
              <a:rPr lang="en-IN" dirty="0"/>
              <a:t>- Reality: **Negative (0)**</a:t>
            </a:r>
          </a:p>
          <a:p>
            <a:r>
              <a:rPr lang="en-IN" dirty="0"/>
              <a:t>- **Prediction was FALSE** → False Positive</a:t>
            </a:r>
          </a:p>
          <a:p>
            <a:endParaRPr lang="en-IN" dirty="0"/>
          </a:p>
          <a:p>
            <a:r>
              <a:rPr lang="en-IN" dirty="0"/>
              <a:t>### False Negative (FN)</a:t>
            </a:r>
          </a:p>
          <a:p>
            <a:r>
              <a:rPr lang="en-IN" dirty="0"/>
              <a:t>- Model predicted: **Negative (0)**</a:t>
            </a:r>
          </a:p>
          <a:p>
            <a:r>
              <a:rPr lang="en-IN" dirty="0"/>
              <a:t>- Reality: **Positive (1)**</a:t>
            </a:r>
          </a:p>
          <a:p>
            <a:r>
              <a:rPr lang="en-IN" dirty="0"/>
              <a:t>- **Prediction was FALSE** → False Negative</a:t>
            </a:r>
          </a:p>
          <a:p>
            <a:endParaRPr lang="en-IN" dirty="0"/>
          </a:p>
          <a:p>
            <a:r>
              <a:rPr lang="en-IN" dirty="0"/>
              <a:t>### True Negative (TN)</a:t>
            </a:r>
          </a:p>
          <a:p>
            <a:r>
              <a:rPr lang="en-IN" dirty="0"/>
              <a:t>- Model predicted: **Negative (0)**</a:t>
            </a:r>
          </a:p>
          <a:p>
            <a:r>
              <a:rPr lang="en-IN" dirty="0"/>
              <a:t>- Reality: **Negative (0)**</a:t>
            </a:r>
          </a:p>
          <a:p>
            <a:r>
              <a:rPr lang="en-IN" dirty="0"/>
              <a:t>- **Both are TRUE** → True Negative</a:t>
            </a:r>
          </a:p>
          <a:p>
            <a:endParaRPr lang="en-IN" dirty="0"/>
          </a:p>
          <a:p>
            <a:r>
              <a:rPr lang="en-IN" dirty="0"/>
              <a:t>### Memory Trick</a:t>
            </a:r>
          </a:p>
          <a:p>
            <a:endParaRPr lang="en-IN" dirty="0"/>
          </a:p>
          <a:p>
            <a:r>
              <a:rPr lang="en-IN" dirty="0"/>
              <a:t>**The second word (Positive/Negative) comes from the prediction**</a:t>
            </a:r>
          </a:p>
          <a:p>
            <a:r>
              <a:rPr lang="en-IN" dirty="0"/>
              <a:t>- If prediction is 1 → Use "Positive"</a:t>
            </a:r>
          </a:p>
          <a:p>
            <a:r>
              <a:rPr lang="en-IN" dirty="0"/>
              <a:t>- If prediction is 0 → Use "Negative"</a:t>
            </a:r>
          </a:p>
          <a:p>
            <a:endParaRPr lang="en-IN" dirty="0"/>
          </a:p>
          <a:p>
            <a:r>
              <a:rPr lang="en-IN" dirty="0"/>
              <a:t>**The first word (True/False) tells you if the prediction was correct**</a:t>
            </a:r>
          </a:p>
          <a:p>
            <a:r>
              <a:rPr lang="en-IN" dirty="0"/>
              <a:t>- If prediction matches reality → "True"</a:t>
            </a:r>
          </a:p>
          <a:p>
            <a:r>
              <a:rPr lang="en-IN" dirty="0"/>
              <a:t>- If prediction doesn't match reality → "False"</a:t>
            </a:r>
          </a:p>
          <a:p>
            <a:endParaRPr lang="en-IN" dirty="0"/>
          </a:p>
          <a:p>
            <a:r>
              <a:rPr lang="en-IN" dirty="0"/>
              <a:t>**Example:** Model predicted 1, but reality was 0 → Prediction is "Positive", but it's "False" → **False Positive**</a:t>
            </a:r>
          </a:p>
          <a:p>
            <a:endParaRPr lang="en-IN" dirty="0"/>
          </a:p>
          <a:p>
            <a:r>
              <a:rPr lang="en-IN" dirty="0"/>
              <a:t>---</a:t>
            </a:r>
          </a:p>
          <a:p>
            <a:endParaRPr lang="en-IN" dirty="0"/>
          </a:p>
          <a:p>
            <a:r>
              <a:rPr lang="en-IN" dirty="0"/>
              <a:t>## Type-1 and Type-2 Errors</a:t>
            </a:r>
          </a:p>
          <a:p>
            <a:endParaRPr lang="en-IN" dirty="0"/>
          </a:p>
          <a:p>
            <a:r>
              <a:rPr lang="en-IN" dirty="0"/>
              <a:t>This is a common interview question: **"What is the difference between Type-1 and Type-2 errors?"**</a:t>
            </a:r>
          </a:p>
          <a:p>
            <a:endParaRPr lang="en-IN" dirty="0"/>
          </a:p>
          <a:p>
            <a:r>
              <a:rPr lang="en-IN" dirty="0"/>
              <a:t>### Type-1 Error = False Positive</a:t>
            </a:r>
          </a:p>
          <a:p>
            <a:r>
              <a:rPr lang="en-IN" dirty="0"/>
              <a:t>```</a:t>
            </a:r>
          </a:p>
          <a:p>
            <a:r>
              <a:rPr lang="en-IN" dirty="0"/>
              <a:t>Type-1 Error = Number of False Positives</a:t>
            </a:r>
          </a:p>
          <a:p>
            <a:r>
              <a:rPr lang="en-IN" dirty="0"/>
              <a:t>```</a:t>
            </a:r>
          </a:p>
          <a:p>
            <a:endParaRPr lang="en-IN" dirty="0"/>
          </a:p>
          <a:p>
            <a:r>
              <a:rPr lang="en-IN" dirty="0"/>
              <a:t>**Definition:** When your model says POSITIVE (disease exists) but reality is NEGATIVE (no disease)</a:t>
            </a:r>
          </a:p>
          <a:p>
            <a:endParaRPr lang="en-IN" dirty="0"/>
          </a:p>
          <a:p>
            <a:r>
              <a:rPr lang="en-IN" dirty="0"/>
              <a:t>**Example:** Patient doesn't have heart disease, but model says they DO have heart disease</a:t>
            </a:r>
          </a:p>
          <a:p>
            <a:endParaRPr lang="en-IN" dirty="0"/>
          </a:p>
          <a:p>
            <a:r>
              <a:rPr lang="en-IN" dirty="0"/>
              <a:t>### Type-2 Error = False Negative</a:t>
            </a:r>
          </a:p>
          <a:p>
            <a:r>
              <a:rPr lang="en-IN" dirty="0"/>
              <a:t>```</a:t>
            </a:r>
          </a:p>
          <a:p>
            <a:r>
              <a:rPr lang="en-IN" dirty="0"/>
              <a:t>Type-2 Error = Number of False Negatives</a:t>
            </a:r>
          </a:p>
        </p:txBody>
      </p:sp>
    </p:spTree>
    <p:extLst>
      <p:ext uri="{BB962C8B-B14F-4D97-AF65-F5344CB8AC3E}">
        <p14:creationId xmlns:p14="http://schemas.microsoft.com/office/powerpoint/2010/main" val="2365242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6D33A7-2E44-B7C8-971F-9A1D3D3CD188}"/>
              </a:ext>
            </a:extLst>
          </p:cNvPr>
          <p:cNvSpPr txBox="1"/>
          <p:nvPr/>
        </p:nvSpPr>
        <p:spPr>
          <a:xfrm>
            <a:off x="196645" y="360006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Definition:</a:t>
            </a:r>
            <a:r>
              <a:rPr lang="en-US" dirty="0"/>
              <a:t> When your model says NEGATIVE (no disease) but reality is POSITIVE (disease exists)</a:t>
            </a:r>
          </a:p>
          <a:p>
            <a:pPr>
              <a:buNone/>
            </a:pPr>
            <a:r>
              <a:rPr lang="en-US" b="1" dirty="0"/>
              <a:t>Example:</a:t>
            </a:r>
            <a:r>
              <a:rPr lang="en-US" dirty="0"/>
              <a:t> Patient HAS heart disease, but model says they DON'T have heart disease</a:t>
            </a:r>
          </a:p>
          <a:p>
            <a:pPr>
              <a:buNone/>
            </a:pPr>
            <a:r>
              <a:rPr lang="en-US" b="1" dirty="0"/>
              <a:t>Remember This Always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False Positive = Type-1 Error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False Negative = Type-2 Error</a:t>
            </a:r>
            <a:endParaRPr lang="en-US" dirty="0"/>
          </a:p>
          <a:p>
            <a:pPr>
              <a:buNone/>
            </a:pPr>
            <a:r>
              <a:rPr lang="en-US" dirty="0"/>
              <a:t>If you remember this, you'll never be confused!</a:t>
            </a:r>
          </a:p>
        </p:txBody>
      </p:sp>
    </p:spTree>
    <p:extLst>
      <p:ext uri="{BB962C8B-B14F-4D97-AF65-F5344CB8AC3E}">
        <p14:creationId xmlns:p14="http://schemas.microsoft.com/office/powerpoint/2010/main" val="2285328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B69D8E-89E0-44C1-053C-1026503F7E73}"/>
              </a:ext>
            </a:extLst>
          </p:cNvPr>
          <p:cNvSpPr txBox="1"/>
          <p:nvPr/>
        </p:nvSpPr>
        <p:spPr>
          <a:xfrm>
            <a:off x="324465" y="54122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Confusion Matrix for Multi-Class Classification</a:t>
            </a:r>
          </a:p>
          <a:p>
            <a:pPr>
              <a:buNone/>
            </a:pPr>
            <a:r>
              <a:rPr lang="en-US" dirty="0"/>
              <a:t>What if you have more than 2 classes? Let's look at the </a:t>
            </a:r>
            <a:r>
              <a:rPr lang="en-US" b="1" dirty="0"/>
              <a:t>Iris dataset example</a:t>
            </a:r>
            <a:r>
              <a:rPr lang="en-US" dirty="0"/>
              <a:t> again (3 classes: 0, 1, 2).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4487DD-19C6-6CFE-D960-10A9D32656C8}"/>
              </a:ext>
            </a:extLst>
          </p:cNvPr>
          <p:cNvSpPr txBox="1"/>
          <p:nvPr/>
        </p:nvSpPr>
        <p:spPr>
          <a:xfrm>
            <a:off x="235973" y="1464555"/>
            <a:ext cx="1146441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 Calculate confusion matrix for multi-class</a:t>
            </a:r>
          </a:p>
          <a:p>
            <a:r>
              <a:rPr lang="en-IN" dirty="0" err="1"/>
              <a:t>cm_iris</a:t>
            </a:r>
            <a:r>
              <a:rPr lang="en-IN" dirty="0"/>
              <a:t> = </a:t>
            </a:r>
            <a:r>
              <a:rPr lang="en-IN" dirty="0" err="1"/>
              <a:t>confusion_matrix</a:t>
            </a:r>
            <a:r>
              <a:rPr lang="en-IN" dirty="0"/>
              <a:t>(</a:t>
            </a:r>
            <a:r>
              <a:rPr lang="en-IN" dirty="0" err="1"/>
              <a:t>y_test</a:t>
            </a:r>
            <a:r>
              <a:rPr lang="en-IN" dirty="0"/>
              <a:t>, </a:t>
            </a:r>
            <a:r>
              <a:rPr lang="en-IN" dirty="0" err="1"/>
              <a:t>y_pred_lr</a:t>
            </a:r>
            <a:r>
              <a:rPr lang="en-IN" dirty="0"/>
              <a:t>)</a:t>
            </a:r>
          </a:p>
          <a:p>
            <a:r>
              <a:rPr lang="en-IN" dirty="0"/>
              <a:t>print(</a:t>
            </a:r>
            <a:r>
              <a:rPr lang="en-IN" dirty="0" err="1"/>
              <a:t>cm_iris</a:t>
            </a:r>
            <a:r>
              <a:rPr lang="en-IN" dirty="0"/>
              <a:t>)</a:t>
            </a:r>
          </a:p>
          <a:p>
            <a:r>
              <a:rPr lang="en-IN" dirty="0"/>
              <a:t>```</a:t>
            </a:r>
          </a:p>
          <a:p>
            <a:endParaRPr lang="en-IN" dirty="0"/>
          </a:p>
          <a:p>
            <a:r>
              <a:rPr lang="en-IN" dirty="0"/>
              <a:t>**Output:**</a:t>
            </a:r>
          </a:p>
          <a:p>
            <a:r>
              <a:rPr lang="en-IN" dirty="0"/>
              <a:t>```</a:t>
            </a:r>
          </a:p>
          <a:p>
            <a:r>
              <a:rPr lang="en-IN" dirty="0"/>
              <a:t>[[7  2  0]</a:t>
            </a:r>
          </a:p>
          <a:p>
            <a:r>
              <a:rPr lang="en-IN" dirty="0"/>
              <a:t> [0 21  0]</a:t>
            </a:r>
          </a:p>
          <a:p>
            <a:r>
              <a:rPr lang="en-IN" dirty="0"/>
              <a:t> [0  0  9]]</a:t>
            </a:r>
          </a:p>
          <a:p>
            <a:r>
              <a:rPr lang="en-IN" dirty="0"/>
              <a:t>```</a:t>
            </a:r>
          </a:p>
          <a:p>
            <a:r>
              <a:rPr lang="en-IN" dirty="0"/>
              <a:t>				true </a:t>
            </a:r>
            <a:r>
              <a:rPr lang="en-IN" dirty="0" err="1"/>
              <a:t>pos</a:t>
            </a:r>
            <a:r>
              <a:rPr lang="en-IN" dirty="0"/>
              <a:t> + true neg</a:t>
            </a:r>
          </a:p>
          <a:p>
            <a:r>
              <a:rPr lang="en-IN" dirty="0"/>
              <a:t>### Structure for 3 Classes</a:t>
            </a:r>
          </a:p>
          <a:p>
            <a:r>
              <a:rPr lang="en-IN" dirty="0"/>
              <a:t>```</a:t>
            </a:r>
          </a:p>
          <a:p>
            <a:r>
              <a:rPr lang="en-IN" dirty="0"/>
              <a:t>                Predicted</a:t>
            </a:r>
          </a:p>
          <a:p>
            <a:r>
              <a:rPr lang="en-IN" dirty="0"/>
              <a:t>                      0    1    2</a:t>
            </a:r>
          </a:p>
          <a:p>
            <a:r>
              <a:rPr lang="en-IN" dirty="0"/>
              <a:t>Actual    0     7    2    0</a:t>
            </a:r>
          </a:p>
          <a:p>
            <a:r>
              <a:rPr lang="en-IN" dirty="0"/>
              <a:t>               1     0   21    0</a:t>
            </a:r>
          </a:p>
          <a:p>
            <a:r>
              <a:rPr lang="en-IN" i="1" dirty="0"/>
              <a:t>               2     </a:t>
            </a:r>
            <a:r>
              <a:rPr lang="en-IN" dirty="0"/>
              <a:t>0    0    9</a:t>
            </a:r>
          </a:p>
        </p:txBody>
      </p:sp>
    </p:spTree>
    <p:extLst>
      <p:ext uri="{BB962C8B-B14F-4D97-AF65-F5344CB8AC3E}">
        <p14:creationId xmlns:p14="http://schemas.microsoft.com/office/powerpoint/2010/main" val="4051344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138C3C-0B75-1731-742D-DAFE3D4C94AF}"/>
              </a:ext>
            </a:extLst>
          </p:cNvPr>
          <p:cNvSpPr txBox="1"/>
          <p:nvPr/>
        </p:nvSpPr>
        <p:spPr>
          <a:xfrm>
            <a:off x="432619" y="539188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```</a:t>
            </a:r>
          </a:p>
          <a:p>
            <a:endParaRPr lang="en-IN" dirty="0"/>
          </a:p>
          <a:p>
            <a:r>
              <a:rPr lang="en-IN" dirty="0"/>
              <a:t>**Interpreting the numbers:**</a:t>
            </a:r>
          </a:p>
          <a:p>
            <a:endParaRPr lang="en-IN" dirty="0"/>
          </a:p>
          <a:p>
            <a:r>
              <a:rPr lang="en-IN" dirty="0"/>
              <a:t>- **7**: Model predicted class 0, and actually it was class 0 ✓</a:t>
            </a:r>
          </a:p>
          <a:p>
            <a:r>
              <a:rPr lang="en-IN" dirty="0"/>
              <a:t>- **2**: Model predicted class 1, but actually it was class 0 ❌</a:t>
            </a:r>
          </a:p>
          <a:p>
            <a:r>
              <a:rPr lang="en-IN" dirty="0"/>
              <a:t>- **21**: Model predicted class 1, and actually it was class 1 ✓</a:t>
            </a:r>
          </a:p>
          <a:p>
            <a:r>
              <a:rPr lang="en-IN" dirty="0"/>
              <a:t>- **9**: Model predicted class 2, and actually it was class 2 ✓</a:t>
            </a:r>
          </a:p>
          <a:p>
            <a:endParaRPr lang="en-IN" dirty="0"/>
          </a:p>
          <a:p>
            <a:r>
              <a:rPr lang="en-IN" dirty="0"/>
              <a:t>**Diagonal elements (7, 21, 9) = Correct predictions**</a:t>
            </a:r>
          </a:p>
          <a:p>
            <a:endParaRPr lang="en-IN" dirty="0"/>
          </a:p>
          <a:p>
            <a:r>
              <a:rPr lang="en-IN" dirty="0"/>
              <a:t>**Accuracy calculation:**</a:t>
            </a:r>
          </a:p>
          <a:p>
            <a:r>
              <a:rPr lang="en-IN" dirty="0"/>
              <a:t>```</a:t>
            </a:r>
          </a:p>
          <a:p>
            <a:r>
              <a:rPr lang="en-IN" dirty="0"/>
              <a:t>Accuracy = Sum of diagonal / Sum of all elements</a:t>
            </a:r>
          </a:p>
          <a:p>
            <a:r>
              <a:rPr lang="en-IN" dirty="0"/>
              <a:t>         = (7 + 21 + 9) / 39</a:t>
            </a:r>
          </a:p>
          <a:p>
            <a:r>
              <a:rPr lang="en-IN" dirty="0"/>
              <a:t>         = 37 / 39</a:t>
            </a:r>
          </a:p>
          <a:p>
            <a:r>
              <a:rPr lang="en-IN" dirty="0"/>
              <a:t>         = 0.95 = 95%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89B3D3-3619-A7C5-805E-E5B08B273F69}"/>
              </a:ext>
            </a:extLst>
          </p:cNvPr>
          <p:cNvSpPr txBox="1"/>
          <p:nvPr/>
        </p:nvSpPr>
        <p:spPr>
          <a:xfrm>
            <a:off x="432619" y="534050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General Rule</a:t>
            </a:r>
          </a:p>
          <a:p>
            <a:pPr>
              <a:buNone/>
            </a:pPr>
            <a:r>
              <a:rPr lang="en-IN" b="1" dirty="0"/>
              <a:t>For N classes, you get an N×N confusion matrix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3 classes → 3×3 matrix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10 classes → 10×10 matrix</a:t>
            </a:r>
          </a:p>
        </p:txBody>
      </p:sp>
    </p:spTree>
    <p:extLst>
      <p:ext uri="{BB962C8B-B14F-4D97-AF65-F5344CB8AC3E}">
        <p14:creationId xmlns:p14="http://schemas.microsoft.com/office/powerpoint/2010/main" val="938659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BD8227-4E0C-F087-1792-75D81B738C3E}"/>
              </a:ext>
            </a:extLst>
          </p:cNvPr>
          <p:cNvSpPr txBox="1"/>
          <p:nvPr/>
        </p:nvSpPr>
        <p:spPr>
          <a:xfrm>
            <a:off x="383458" y="296773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When is Accuracy Misleading?</a:t>
            </a:r>
          </a:p>
          <a:p>
            <a:pPr>
              <a:buNone/>
            </a:pPr>
            <a:r>
              <a:rPr lang="en-US" dirty="0"/>
              <a:t>I mentioned earlier that accuracy is not always useful. Let me discuss a particular case where </a:t>
            </a:r>
            <a:r>
              <a:rPr lang="en-US" b="1" dirty="0"/>
              <a:t>accuracy is misleading</a:t>
            </a:r>
            <a:r>
              <a:rPr lang="en-US" dirty="0"/>
              <a:t> and can make you commit mistakes.</a:t>
            </a:r>
          </a:p>
          <a:p>
            <a:pPr>
              <a:buNone/>
            </a:pPr>
            <a:r>
              <a:rPr lang="en-US" b="1" dirty="0"/>
              <a:t>The Problem: Imbalanced Datasets</a:t>
            </a:r>
          </a:p>
          <a:p>
            <a:pPr>
              <a:buNone/>
            </a:pPr>
            <a:r>
              <a:rPr lang="en-US" b="1" dirty="0"/>
              <a:t>Accuracy gives bad results when you have an imbalanced dataset.</a:t>
            </a:r>
            <a:endParaRPr lang="en-US" dirty="0"/>
          </a:p>
          <a:p>
            <a:pPr>
              <a:buNone/>
            </a:pPr>
            <a:r>
              <a:rPr lang="en-US" b="1" dirty="0"/>
              <a:t>Imbalanced Dataset:</a:t>
            </a:r>
            <a:r>
              <a:rPr lang="en-US" dirty="0"/>
              <a:t> When the ratio between your classes is not balanced.</a:t>
            </a:r>
          </a:p>
          <a:p>
            <a:pPr>
              <a:buNone/>
            </a:pPr>
            <a:r>
              <a:rPr lang="en-US" b="1" dirty="0"/>
              <a:t>Example: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 1 (Yes): 999 data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 0 (No): 1 data point</a:t>
            </a:r>
          </a:p>
          <a:p>
            <a:pPr>
              <a:buNone/>
            </a:pPr>
            <a:r>
              <a:rPr lang="en-US" dirty="0"/>
              <a:t>This is an imbalanced dataset.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D73567-2EF7-384A-AA7B-7454CC909EC8}"/>
              </a:ext>
            </a:extLst>
          </p:cNvPr>
          <p:cNvSpPr txBox="1"/>
          <p:nvPr/>
        </p:nvSpPr>
        <p:spPr>
          <a:xfrm>
            <a:off x="471949" y="3995678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Real-World Example: Airport Terrorist Detection</a:t>
            </a:r>
          </a:p>
          <a:p>
            <a:pPr>
              <a:buNone/>
            </a:pPr>
            <a:r>
              <a:rPr lang="en-US" dirty="0"/>
              <a:t>Let's say you need to build a model for airport security that takes passenger snapshots and predicts whether they're a potential terrorist.</a:t>
            </a:r>
          </a:p>
          <a:p>
            <a:pPr>
              <a:buNone/>
            </a:pPr>
            <a:r>
              <a:rPr lang="en-US" b="1" dirty="0"/>
              <a:t>Reality: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Number of normal passengers: VERY HIGH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Number of terrorists: VERY 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Probably 1 terrorist in 100,000 passengers (or even more)</a:t>
            </a:r>
          </a:p>
          <a:p>
            <a:pPr>
              <a:buNone/>
            </a:pPr>
            <a:r>
              <a:rPr lang="en-US" dirty="0"/>
              <a:t>So </a:t>
            </a:r>
            <a:r>
              <a:rPr lang="en-US" b="1" dirty="0"/>
              <a:t>99,999 people are normal passengers</a:t>
            </a:r>
            <a:r>
              <a:rPr lang="en-US" dirty="0"/>
              <a:t> and </a:t>
            </a:r>
            <a:r>
              <a:rPr lang="en-US" b="1" dirty="0"/>
              <a:t>only 1 person is a terrorist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8046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2432AD-3B0C-5F4D-B574-0E82205D9D1F}"/>
              </a:ext>
            </a:extLst>
          </p:cNvPr>
          <p:cNvSpPr txBox="1"/>
          <p:nvPr/>
        </p:nvSpPr>
        <p:spPr>
          <a:xfrm>
            <a:off x="511277" y="35526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 Deceptive Model</a:t>
            </a:r>
          </a:p>
          <a:p>
            <a:pPr>
              <a:buNone/>
            </a:pPr>
            <a:r>
              <a:rPr lang="en-US" dirty="0"/>
              <a:t>Now you build a model with just ONE line of logic: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0556C4-85AA-675F-B72B-0A5C37DDC97E}"/>
              </a:ext>
            </a:extLst>
          </p:cNvPr>
          <p:cNvSpPr txBox="1"/>
          <p:nvPr/>
        </p:nvSpPr>
        <p:spPr>
          <a:xfrm>
            <a:off x="393291" y="1116748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 Model logic: Predict everyone as NOT a terrorist</a:t>
            </a:r>
          </a:p>
          <a:p>
            <a:r>
              <a:rPr lang="en-IN" dirty="0"/>
              <a:t>prediction = 0  # Always predict 0 (not terrorist)</a:t>
            </a:r>
          </a:p>
          <a:p>
            <a:r>
              <a:rPr lang="en-IN" dirty="0"/>
              <a:t>```</a:t>
            </a:r>
          </a:p>
          <a:p>
            <a:endParaRPr lang="en-IN" dirty="0"/>
          </a:p>
          <a:p>
            <a:r>
              <a:rPr lang="en-IN" dirty="0"/>
              <a:t>Your model NEVER says anyone is a terrorist!</a:t>
            </a:r>
          </a:p>
          <a:p>
            <a:endParaRPr lang="en-IN" dirty="0"/>
          </a:p>
          <a:p>
            <a:r>
              <a:rPr lang="en-IN" dirty="0"/>
              <a:t>**Let's build the confusion matrix:**</a:t>
            </a:r>
          </a:p>
          <a:p>
            <a:r>
              <a:rPr lang="en-IN" dirty="0"/>
              <a:t>```</a:t>
            </a:r>
          </a:p>
          <a:p>
            <a:r>
              <a:rPr lang="en-IN" dirty="0"/>
              <a:t>                    Predicted</a:t>
            </a:r>
          </a:p>
          <a:p>
            <a:r>
              <a:rPr lang="en-IN" dirty="0"/>
              <a:t>                    0 (No)    1 (Yes)</a:t>
            </a:r>
          </a:p>
          <a:p>
            <a:r>
              <a:rPr lang="en-IN" dirty="0"/>
              <a:t>Actual    0 (No)    99,999    0</a:t>
            </a:r>
          </a:p>
          <a:p>
            <a:r>
              <a:rPr lang="en-IN" dirty="0"/>
              <a:t>          1 (Yes)   1         0</a:t>
            </a:r>
          </a:p>
          <a:p>
            <a:r>
              <a:rPr lang="en-IN" dirty="0"/>
              <a:t>```</a:t>
            </a:r>
          </a:p>
          <a:p>
            <a:endParaRPr lang="en-IN" dirty="0"/>
          </a:p>
          <a:p>
            <a:r>
              <a:rPr lang="en-IN" dirty="0"/>
              <a:t>**Calculating accuracy:**</a:t>
            </a:r>
          </a:p>
          <a:p>
            <a:r>
              <a:rPr lang="en-IN" dirty="0"/>
              <a:t>```</a:t>
            </a:r>
          </a:p>
          <a:p>
            <a:r>
              <a:rPr lang="en-IN" dirty="0"/>
              <a:t>Accuracy = (99,999 + 0) / (99,999 + 0 + 0 + 1)</a:t>
            </a:r>
          </a:p>
          <a:p>
            <a:r>
              <a:rPr lang="en-IN" dirty="0"/>
              <a:t>         = 99,999 / 100,000</a:t>
            </a:r>
          </a:p>
          <a:p>
            <a:r>
              <a:rPr lang="en-IN" dirty="0"/>
              <a:t>         = 0.9999</a:t>
            </a:r>
          </a:p>
          <a:p>
            <a:r>
              <a:rPr lang="en-IN" dirty="0"/>
              <a:t>         = 99.99% ≈ 100%</a:t>
            </a:r>
          </a:p>
        </p:txBody>
      </p:sp>
    </p:spTree>
    <p:extLst>
      <p:ext uri="{BB962C8B-B14F-4D97-AF65-F5344CB8AC3E}">
        <p14:creationId xmlns:p14="http://schemas.microsoft.com/office/powerpoint/2010/main" val="2428689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CF49FE-7CA0-3FF3-66A8-47018C3C12A6}"/>
              </a:ext>
            </a:extLst>
          </p:cNvPr>
          <p:cNvSpPr txBox="1"/>
          <p:nvPr/>
        </p:nvSpPr>
        <p:spPr>
          <a:xfrm>
            <a:off x="304800" y="291180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Your model has 99.99% accuracy!</a:t>
            </a:r>
            <a:r>
              <a:rPr lang="en-US" dirty="0"/>
              <a:t> Almost 100%!</a:t>
            </a:r>
          </a:p>
          <a:p>
            <a:pPr>
              <a:buNone/>
            </a:pPr>
            <a:r>
              <a:rPr lang="en-US" b="1" dirty="0"/>
              <a:t>The Problem</a:t>
            </a:r>
          </a:p>
          <a:p>
            <a:pPr>
              <a:buNone/>
            </a:pPr>
            <a:r>
              <a:rPr lang="en-US" b="1" dirty="0"/>
              <a:t>Clearly, if you rely on accuracy in such cases, you'll never get good results.</a:t>
            </a:r>
            <a:endParaRPr lang="en-US" dirty="0"/>
          </a:p>
          <a:p>
            <a:pPr>
              <a:buNone/>
            </a:pPr>
            <a:r>
              <a:rPr lang="en-US" dirty="0"/>
              <a:t>Your model is making serious mistakes (missing the one terrorist!), but accuracy shows it as nearly perfect!</a:t>
            </a:r>
          </a:p>
          <a:p>
            <a:pPr>
              <a:buNone/>
            </a:pPr>
            <a:r>
              <a:rPr lang="en-US" b="1" dirty="0"/>
              <a:t>In such imbalanced dataset scenarios, accuracy is NOT the correct metric to use.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CBB494-60BB-82BE-B1BF-9E0D3D342384}"/>
              </a:ext>
            </a:extLst>
          </p:cNvPr>
          <p:cNvSpPr txBox="1"/>
          <p:nvPr/>
        </p:nvSpPr>
        <p:spPr>
          <a:xfrm>
            <a:off x="304800" y="2847567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Solution: Precision and Recall</a:t>
            </a:r>
          </a:p>
          <a:p>
            <a:pPr>
              <a:buNone/>
            </a:pPr>
            <a:r>
              <a:rPr lang="en-US" dirty="0"/>
              <a:t>When accuracy fails (especially with imbalanced datasets), we need two new metrics: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Precision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Recall</a:t>
            </a:r>
            <a:endParaRPr lang="en-US" dirty="0"/>
          </a:p>
          <a:p>
            <a:pPr>
              <a:buNone/>
            </a:pPr>
            <a:r>
              <a:rPr lang="en-US" dirty="0"/>
              <a:t>These metrics will help us properly evaluate models when accuracy is misleading.</a:t>
            </a:r>
          </a:p>
          <a:p>
            <a:pPr>
              <a:buNone/>
            </a:pPr>
            <a:r>
              <a:rPr lang="en-US" b="1" dirty="0"/>
              <a:t>We'll learn about Precision and Recall in the next video!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416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C8FEF1B7-B5C2-2B26-6FDD-47DAF3A68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317" y="259988"/>
            <a:ext cx="692478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simplest classification metric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Matrix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Shows the breakdown of prediction types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Formula: Correct Predictions / Total Predictions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for binary and multi-class classification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single "good" accuracy value - depends on the problem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 Positives, True Negatives, False Positives, False Negatives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understand the nature of mistakes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calculate accuracy FROM confusion matrix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N classes, get N×N matrix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8CF6DB8-EC75-8488-A51C-6C6D07DBB47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8658" y="3285951"/>
            <a:ext cx="1181837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Type-1 and Type-2 Errors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Type-1 Error = False Positive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Type-2 Error = False Negative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Accuracy Fails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Imbalanced datasets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can be misleading with imbalanced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alternative metrics like Precision and Recall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161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1846</TotalTime>
  <Words>2706</Words>
  <Application>Microsoft Office PowerPoint</Application>
  <PresentationFormat>Widescreen</PresentationFormat>
  <Paragraphs>383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simran bhutani</dc:creator>
  <cp:lastModifiedBy>simran bhutani</cp:lastModifiedBy>
  <cp:revision>64</cp:revision>
  <dcterms:created xsi:type="dcterms:W3CDTF">2025-12-15T10:53:33Z</dcterms:created>
  <dcterms:modified xsi:type="dcterms:W3CDTF">2026-01-04T15:46:26Z</dcterms:modified>
</cp:coreProperties>
</file>