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81" r:id="rId5"/>
    <p:sldId id="282" r:id="rId6"/>
    <p:sldId id="284" r:id="rId7"/>
    <p:sldId id="283" r:id="rId8"/>
    <p:sldId id="285" r:id="rId9"/>
    <p:sldId id="286" r:id="rId10"/>
    <p:sldId id="305" r:id="rId11"/>
    <p:sldId id="306" r:id="rId12"/>
    <p:sldId id="307" r:id="rId13"/>
    <p:sldId id="308" r:id="rId14"/>
    <p:sldId id="309" r:id="rId15"/>
    <p:sldId id="310" r:id="rId16"/>
    <p:sldId id="31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A93F-C175-7940-68C7-F4066C0EF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53A06-DD08-75AB-ACE6-C11E3578D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7C458-0B88-A6A5-10FD-5846A758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7B989-1F95-F48F-0F3D-195BC238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AE41-9DB9-9DF6-C9A7-E6C90820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4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AAE8-EF1B-C65F-91E5-8DD85846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AA4F-19B8-3DAF-7E1F-7887A4EDB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4F98F-811A-B25E-E918-58DBFE16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ACB0A-7543-7CB8-2B3A-AEF3AB4E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2843B-E43F-7D66-0841-8E53A3D0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7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E901-DB59-BA74-E5AD-FDD32832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8101B-E1F6-13F5-1941-18958582D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FA04-E86F-4B1E-FBFD-553FA84D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F78B-5837-2A96-4965-4ED5AFE0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97AFB-E810-55B9-7CDE-630F5DC3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09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C0AE-DC82-FA66-3A37-206A954E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2D23-9336-D3F9-44C2-F6B6BA202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422F4-5B3D-F3C9-D05B-FA1DCD396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DFBF7-8CC5-684E-16DC-3B45CBE3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D41C9-3832-764D-FDAD-F69D040B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CC6F9-CE42-F654-70F6-13E3C31E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8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8A44-37B6-6701-C854-600C3D06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4DE52-50B7-59F5-A6C5-CBAB7CA3A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82A9A-B439-45E4-98AC-A61BD91AF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BBD66-D7EF-79AA-1F6A-93F430FA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DF1AF-A816-F23D-1967-CD64FCC19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B9FEE-4E16-8E0E-6744-1394DE22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42BFA-A90C-CA16-434E-59F73DBE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F25A8-D98C-4805-19F8-483E2CD5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454D-CF71-B965-8535-FE5E961F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5BD2-2261-D0BB-F2DE-3BF6E80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B5EF9-492B-2CE3-3DFD-0A685412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0422E-5292-6781-5031-74E1C5BE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4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340FC-2651-3E63-E7B8-C3F5C934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EB8EC-948D-B3A3-1C1A-6F66CBD1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A9BA4-A50E-46D7-A542-77E76E21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08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B3C7-81AF-01EE-7A9A-88CB4249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944D-057C-D750-A8A9-0FA38039B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5E50B-E123-FFE3-D490-AC545D21F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D3087-5A86-072E-E5BA-A72CE8E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7F1E2-E2C0-71A7-75AC-4EADB22F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55F8E-352D-7821-EE87-CBF32394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5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F272-5BA1-9EC0-DB54-2B1A49AD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FC97B-6EC2-22C9-4828-52D9433C30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EF526-B482-6197-70A1-12A4CFCF6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D6B74-A03F-D93B-3D09-F6F3CE24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49D4C-32BE-C91D-5ACF-CACA291C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3E3C4-AE53-E121-07F9-D5804E5B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0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1C9A-89C2-ACC9-736E-FE5D00EF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4F7DC-18C2-B276-D68C-A9FC8C0B0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17A48-0B6F-C7D3-2ACE-B4540629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F6422-6BC4-22D1-73A7-FC9E712C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1D643-685E-1B8D-E260-102059C8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2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BFF1F-C748-413D-2B8F-A4CD05C9A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67EAD-4EEB-055E-A959-9D57CAFCA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916EA-9F6F-57FA-849A-8D925888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4D2BC-ABEB-66F7-DF21-AB3E6D39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573D-2B07-803C-2F75-A0895393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68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D4007-8A5B-F211-EFF5-6D2E1EB1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A1D64-7558-F0AC-1DC0-23CF06548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6330-FB0A-7057-65A5-414552EFC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8922C-24BC-4978-86AC-F18E1B68AA1B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A2BB2-1C4F-9A0D-DB7D-31819C13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579E8-FC35-75DD-F68F-6F8A726E4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0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EC84F8-A09E-D8F4-B0DC-8A94A942CB34}"/>
              </a:ext>
            </a:extLst>
          </p:cNvPr>
          <p:cNvSpPr txBox="1"/>
          <p:nvPr/>
        </p:nvSpPr>
        <p:spPr>
          <a:xfrm>
            <a:off x="216311" y="70631"/>
            <a:ext cx="1079581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Today, we convert our project files from </a:t>
            </a:r>
            <a:r>
              <a:rPr lang="en-IN" dirty="0" err="1"/>
              <a:t>colab</a:t>
            </a:r>
            <a:r>
              <a:rPr lang="en-IN" dirty="0"/>
              <a:t> to VS code</a:t>
            </a:r>
          </a:p>
          <a:p>
            <a:r>
              <a:rPr lang="en-IN" dirty="0"/>
              <a:t>For that we created new folder in our system and open it in VS code</a:t>
            </a:r>
          </a:p>
          <a:p>
            <a:r>
              <a:rPr lang="en-IN" dirty="0"/>
              <a:t>Open the folder in Vs code, then create new file with the name of requirements.txt</a:t>
            </a:r>
          </a:p>
          <a:p>
            <a:r>
              <a:rPr lang="en-IN" dirty="0"/>
              <a:t>pandas</a:t>
            </a:r>
          </a:p>
          <a:p>
            <a:r>
              <a:rPr lang="en-IN" dirty="0" err="1"/>
              <a:t>numpy</a:t>
            </a:r>
            <a:endParaRPr lang="en-IN" dirty="0"/>
          </a:p>
          <a:p>
            <a:r>
              <a:rPr lang="en-IN" dirty="0"/>
              <a:t>scikit-learn</a:t>
            </a:r>
          </a:p>
          <a:p>
            <a:endParaRPr lang="en-IN" dirty="0"/>
          </a:p>
          <a:p>
            <a:r>
              <a:rPr lang="en-IN" dirty="0"/>
              <a:t>And create a virtual environment in terminal,</a:t>
            </a:r>
          </a:p>
          <a:p>
            <a:endParaRPr lang="en-IN" dirty="0"/>
          </a:p>
          <a:p>
            <a:r>
              <a:rPr lang="en-IN" dirty="0"/>
              <a:t>Python –m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venv</a:t>
            </a:r>
            <a:endParaRPr lang="en-IN" dirty="0"/>
          </a:p>
          <a:p>
            <a:endParaRPr lang="en-IN" dirty="0"/>
          </a:p>
          <a:p>
            <a:r>
              <a:rPr lang="en-IN" dirty="0"/>
              <a:t>Activate the environment 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dirty="0" err="1"/>
              <a:t>venv</a:t>
            </a:r>
            <a:r>
              <a:rPr lang="en-IN" dirty="0"/>
              <a:t>\Scripts\Activate</a:t>
            </a:r>
          </a:p>
          <a:p>
            <a:endParaRPr lang="en-IN" dirty="0"/>
          </a:p>
          <a:p>
            <a:r>
              <a:rPr lang="en-IN" dirty="0"/>
              <a:t>Then, run this command to install </a:t>
            </a:r>
            <a:r>
              <a:rPr lang="en-IN" dirty="0" err="1"/>
              <a:t>liberaries</a:t>
            </a:r>
            <a:r>
              <a:rPr lang="en-IN" dirty="0"/>
              <a:t>. 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pip install –r requirements.txt</a:t>
            </a:r>
          </a:p>
          <a:p>
            <a:endParaRPr lang="en-IN" dirty="0"/>
          </a:p>
          <a:p>
            <a:r>
              <a:rPr lang="en-IN" dirty="0"/>
              <a:t># Copy the clean_data.csv file and paste into the project folder.</a:t>
            </a:r>
          </a:p>
          <a:p>
            <a:endParaRPr lang="en-IN" dirty="0"/>
          </a:p>
          <a:p>
            <a:r>
              <a:rPr lang="en-IN" dirty="0"/>
              <a:t>As libraries are installed now and virtual environment is activated.</a:t>
            </a:r>
          </a:p>
          <a:p>
            <a:r>
              <a:rPr lang="en-IN" dirty="0"/>
              <a:t>Create new file with the name of preprocess_data.py and write this code in that: next slide.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77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39CDFC-CF08-24AC-2952-3C82B4BA885D}"/>
              </a:ext>
            </a:extLst>
          </p:cNvPr>
          <p:cNvSpPr txBox="1"/>
          <p:nvPr/>
        </p:nvSpPr>
        <p:spPr>
          <a:xfrm>
            <a:off x="0" y="0"/>
            <a:ext cx="10795818" cy="7155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50" dirty="0"/>
              <a:t>import pandas as pd</a:t>
            </a:r>
          </a:p>
          <a:p>
            <a:r>
              <a:rPr lang="en-IN" sz="1650" dirty="0"/>
              <a:t>import </a:t>
            </a:r>
            <a:r>
              <a:rPr lang="en-IN" sz="1650" dirty="0" err="1"/>
              <a:t>numpy</a:t>
            </a:r>
            <a:r>
              <a:rPr lang="en-IN" sz="1650" dirty="0"/>
              <a:t> as np</a:t>
            </a:r>
          </a:p>
          <a:p>
            <a:r>
              <a:rPr lang="en-IN" sz="1650" dirty="0"/>
              <a:t>data = </a:t>
            </a:r>
            <a:r>
              <a:rPr lang="en-IN" sz="1650" dirty="0" err="1"/>
              <a:t>pd.read_csv</a:t>
            </a:r>
            <a:r>
              <a:rPr lang="en-IN" sz="1650" dirty="0"/>
              <a:t>("clean_data.csv")</a:t>
            </a:r>
          </a:p>
          <a:p>
            <a:r>
              <a:rPr lang="en-IN" sz="1650" dirty="0"/>
              <a:t>def </a:t>
            </a:r>
            <a:r>
              <a:rPr lang="en-IN" sz="1650" dirty="0" err="1"/>
              <a:t>process_data</a:t>
            </a:r>
            <a:r>
              <a:rPr lang="en-IN" sz="1650" dirty="0"/>
              <a:t>(data: </a:t>
            </a:r>
            <a:r>
              <a:rPr lang="en-IN" sz="1650" dirty="0" err="1"/>
              <a:t>pd.DataFrame</a:t>
            </a:r>
            <a:r>
              <a:rPr lang="en-IN" sz="1650" dirty="0"/>
              <a:t>) -&gt; </a:t>
            </a:r>
            <a:r>
              <a:rPr lang="en-IN" sz="1650" dirty="0" err="1"/>
              <a:t>pd.DataFrame</a:t>
            </a:r>
            <a:r>
              <a:rPr lang="en-IN" sz="1650" dirty="0"/>
              <a:t>:</a:t>
            </a:r>
          </a:p>
          <a:p>
            <a:r>
              <a:rPr lang="en-IN" sz="1650" dirty="0"/>
              <a:t>    # Replace invalid values with </a:t>
            </a:r>
            <a:r>
              <a:rPr lang="en-IN" sz="1650" dirty="0" err="1"/>
              <a:t>NaN</a:t>
            </a:r>
            <a:endParaRPr lang="en-IN" sz="1650" dirty="0"/>
          </a:p>
          <a:p>
            <a:r>
              <a:rPr lang="en-IN" sz="1650" dirty="0"/>
              <a:t>    data['</a:t>
            </a:r>
            <a:r>
              <a:rPr lang="en-IN" sz="1650" dirty="0" err="1"/>
              <a:t>ProdID</a:t>
            </a:r>
            <a:r>
              <a:rPr lang="en-IN" sz="1650" dirty="0"/>
              <a:t>'] = data['</a:t>
            </a:r>
            <a:r>
              <a:rPr lang="en-IN" sz="1650" dirty="0" err="1"/>
              <a:t>ProdID</a:t>
            </a:r>
            <a:r>
              <a:rPr lang="en-IN" sz="1650" dirty="0"/>
              <a:t>'].replace(-2147483648, </a:t>
            </a:r>
            <a:r>
              <a:rPr lang="en-IN" sz="1650" dirty="0" err="1"/>
              <a:t>np.nan</a:t>
            </a:r>
            <a:r>
              <a:rPr lang="en-IN" sz="1650" dirty="0"/>
              <a:t>)</a:t>
            </a:r>
          </a:p>
          <a:p>
            <a:r>
              <a:rPr lang="en-IN" sz="1650" dirty="0"/>
              <a:t>    data['ID'] = data['ID'].replace(-2147483648, </a:t>
            </a:r>
            <a:r>
              <a:rPr lang="en-IN" sz="1650" dirty="0" err="1"/>
              <a:t>np.nan</a:t>
            </a:r>
            <a:r>
              <a:rPr lang="en-IN" sz="1650" dirty="0"/>
              <a:t>)</a:t>
            </a:r>
          </a:p>
          <a:p>
            <a:r>
              <a:rPr lang="en-IN" sz="1650" dirty="0"/>
              <a:t>    # Convert ID to numeric and clean</a:t>
            </a:r>
          </a:p>
          <a:p>
            <a:r>
              <a:rPr lang="en-IN" sz="1650" dirty="0"/>
              <a:t>    data['ID'] = </a:t>
            </a:r>
            <a:r>
              <a:rPr lang="en-IN" sz="1650" dirty="0" err="1"/>
              <a:t>pd.to_numeric</a:t>
            </a:r>
            <a:r>
              <a:rPr lang="en-IN" sz="1650" dirty="0"/>
              <a:t>(data['ID'], errors='coerce')</a:t>
            </a:r>
          </a:p>
          <a:p>
            <a:r>
              <a:rPr lang="en-IN" sz="1650" dirty="0"/>
              <a:t>    data = </a:t>
            </a:r>
            <a:r>
              <a:rPr lang="en-IN" sz="1650" dirty="0" err="1"/>
              <a:t>data.dropna</a:t>
            </a:r>
            <a:r>
              <a:rPr lang="en-IN" sz="1650" dirty="0"/>
              <a:t>(subset=['ID'])</a:t>
            </a:r>
          </a:p>
          <a:p>
            <a:r>
              <a:rPr lang="en-IN" sz="1650" dirty="0"/>
              <a:t>    # Clean </a:t>
            </a:r>
            <a:r>
              <a:rPr lang="en-IN" sz="1650" dirty="0" err="1"/>
              <a:t>ProdID</a:t>
            </a:r>
            <a:endParaRPr lang="en-IN" sz="1650" dirty="0"/>
          </a:p>
          <a:p>
            <a:r>
              <a:rPr lang="en-IN" sz="1650" dirty="0"/>
              <a:t>    data = </a:t>
            </a:r>
            <a:r>
              <a:rPr lang="en-IN" sz="1650" dirty="0" err="1"/>
              <a:t>data.dropna</a:t>
            </a:r>
            <a:r>
              <a:rPr lang="en-IN" sz="1650" dirty="0"/>
              <a:t>(subset=['</a:t>
            </a:r>
            <a:r>
              <a:rPr lang="en-IN" sz="1650" dirty="0" err="1"/>
              <a:t>ProdID</a:t>
            </a:r>
            <a:r>
              <a:rPr lang="en-IN" sz="1650" dirty="0"/>
              <a:t>']) </a:t>
            </a:r>
          </a:p>
          <a:p>
            <a:r>
              <a:rPr lang="en-IN" sz="1650" dirty="0"/>
              <a:t>    # Remove rows where ID or </a:t>
            </a:r>
            <a:r>
              <a:rPr lang="en-IN" sz="1650" dirty="0" err="1"/>
              <a:t>ProdID</a:t>
            </a:r>
            <a:r>
              <a:rPr lang="en-IN" sz="1650" dirty="0"/>
              <a:t> is 0</a:t>
            </a:r>
          </a:p>
          <a:p>
            <a:r>
              <a:rPr lang="en-IN" sz="1650" dirty="0"/>
              <a:t>    data = data[(data['ID'] != 0) &amp; (data['</a:t>
            </a:r>
            <a:r>
              <a:rPr lang="en-IN" sz="1650" dirty="0" err="1"/>
              <a:t>ProdID</a:t>
            </a:r>
            <a:r>
              <a:rPr lang="en-IN" sz="1650" dirty="0"/>
              <a:t>'] != 0)].copy()</a:t>
            </a:r>
          </a:p>
          <a:p>
            <a:r>
              <a:rPr lang="en-IN" sz="1650" dirty="0"/>
              <a:t>    data['ID'] = data['ID'].</a:t>
            </a:r>
            <a:r>
              <a:rPr lang="en-IN" sz="1650" dirty="0" err="1"/>
              <a:t>astype</a:t>
            </a:r>
            <a:r>
              <a:rPr lang="en-IN" sz="1650" dirty="0"/>
              <a:t>('int64')</a:t>
            </a:r>
          </a:p>
          <a:p>
            <a:r>
              <a:rPr lang="en-IN" sz="1650" dirty="0"/>
              <a:t>    data['</a:t>
            </a:r>
            <a:r>
              <a:rPr lang="en-IN" sz="1650" dirty="0" err="1"/>
              <a:t>ProdID</a:t>
            </a:r>
            <a:r>
              <a:rPr lang="en-IN" sz="1650" dirty="0"/>
              <a:t>'] = data['</a:t>
            </a:r>
            <a:r>
              <a:rPr lang="en-IN" sz="1650" dirty="0" err="1"/>
              <a:t>ProdID</a:t>
            </a:r>
            <a:r>
              <a:rPr lang="en-IN" sz="1650" dirty="0"/>
              <a:t>'].</a:t>
            </a:r>
            <a:r>
              <a:rPr lang="en-IN" sz="1650" dirty="0" err="1"/>
              <a:t>astype</a:t>
            </a:r>
            <a:r>
              <a:rPr lang="en-IN" sz="1650" dirty="0"/>
              <a:t>('int64')</a:t>
            </a:r>
          </a:p>
          <a:p>
            <a:r>
              <a:rPr lang="en-IN" sz="1650" dirty="0"/>
              <a:t>    # </a:t>
            </a:r>
            <a:r>
              <a:rPr lang="en-IN" sz="1650" dirty="0" err="1"/>
              <a:t>ReviewCount</a:t>
            </a:r>
            <a:endParaRPr lang="en-IN" sz="1650" dirty="0"/>
          </a:p>
          <a:p>
            <a:r>
              <a:rPr lang="en-IN" sz="1650" dirty="0"/>
              <a:t>    data['</a:t>
            </a:r>
            <a:r>
              <a:rPr lang="en-IN" sz="1650" dirty="0" err="1"/>
              <a:t>ReviewCount</a:t>
            </a:r>
            <a:r>
              <a:rPr lang="en-IN" sz="1650" dirty="0"/>
              <a:t>'] = </a:t>
            </a:r>
            <a:r>
              <a:rPr lang="en-IN" sz="1650" dirty="0" err="1"/>
              <a:t>pd.to_numeric</a:t>
            </a:r>
            <a:r>
              <a:rPr lang="en-IN" sz="1650" dirty="0"/>
              <a:t>(</a:t>
            </a:r>
          </a:p>
          <a:p>
            <a:r>
              <a:rPr lang="en-IN" sz="1650" dirty="0"/>
              <a:t>        data['</a:t>
            </a:r>
            <a:r>
              <a:rPr lang="en-IN" sz="1650" dirty="0" err="1"/>
              <a:t>ReviewCount</a:t>
            </a:r>
            <a:r>
              <a:rPr lang="en-IN" sz="1650" dirty="0"/>
              <a:t>'], errors='coerce'</a:t>
            </a:r>
          </a:p>
          <a:p>
            <a:r>
              <a:rPr lang="en-IN" sz="1650" dirty="0"/>
              <a:t>    ).</a:t>
            </a:r>
            <a:r>
              <a:rPr lang="en-IN" sz="1650" dirty="0" err="1"/>
              <a:t>fillna</a:t>
            </a:r>
            <a:r>
              <a:rPr lang="en-IN" sz="1650" dirty="0"/>
              <a:t>(0).</a:t>
            </a:r>
            <a:r>
              <a:rPr lang="en-IN" sz="1650" dirty="0" err="1"/>
              <a:t>astype</a:t>
            </a:r>
            <a:r>
              <a:rPr lang="en-IN" sz="1650" dirty="0"/>
              <a:t>('int64')</a:t>
            </a:r>
          </a:p>
          <a:p>
            <a:r>
              <a:rPr lang="en-IN" sz="1650" dirty="0"/>
              <a:t>    # Drop unwanted column if exists</a:t>
            </a:r>
          </a:p>
          <a:p>
            <a:r>
              <a:rPr lang="en-IN" sz="1650" dirty="0"/>
              <a:t>    if 'Unnamed: 0' in </a:t>
            </a:r>
            <a:r>
              <a:rPr lang="en-IN" sz="1650" dirty="0" err="1"/>
              <a:t>data.columns</a:t>
            </a:r>
            <a:r>
              <a:rPr lang="en-IN" sz="1650" dirty="0"/>
              <a:t>:</a:t>
            </a:r>
          </a:p>
          <a:p>
            <a:r>
              <a:rPr lang="en-IN" sz="1650" dirty="0"/>
              <a:t>        data = </a:t>
            </a:r>
            <a:r>
              <a:rPr lang="en-IN" sz="1650" dirty="0" err="1"/>
              <a:t>data.drop</a:t>
            </a:r>
            <a:r>
              <a:rPr lang="en-IN" sz="1650" dirty="0"/>
              <a:t>(columns=['Unnamed: 0'])</a:t>
            </a:r>
          </a:p>
          <a:p>
            <a:r>
              <a:rPr lang="en-IN" sz="1650" dirty="0"/>
              <a:t>    # Fill text columns</a:t>
            </a:r>
          </a:p>
          <a:p>
            <a:r>
              <a:rPr lang="en-IN" sz="1650" dirty="0"/>
              <a:t>    for col in ['Category', 'Brand', 'Description', 'Tags']:</a:t>
            </a:r>
          </a:p>
          <a:p>
            <a:r>
              <a:rPr lang="en-IN" sz="1650" dirty="0"/>
              <a:t>        data[col] = data[col].</a:t>
            </a:r>
            <a:r>
              <a:rPr lang="en-IN" sz="1650" dirty="0" err="1"/>
              <a:t>fillna</a:t>
            </a:r>
            <a:r>
              <a:rPr lang="en-IN" sz="1650" dirty="0"/>
              <a:t>('')</a:t>
            </a:r>
          </a:p>
          <a:p>
            <a:r>
              <a:rPr lang="en-IN" sz="1650" dirty="0"/>
              <a:t>    return data</a:t>
            </a:r>
          </a:p>
        </p:txBody>
      </p:sp>
    </p:spTree>
    <p:extLst>
      <p:ext uri="{BB962C8B-B14F-4D97-AF65-F5344CB8AC3E}">
        <p14:creationId xmlns:p14="http://schemas.microsoft.com/office/powerpoint/2010/main" val="96782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CA9C6-531F-C399-F688-72EA3CBC476D}"/>
              </a:ext>
            </a:extLst>
          </p:cNvPr>
          <p:cNvSpPr txBox="1"/>
          <p:nvPr/>
        </p:nvSpPr>
        <p:spPr>
          <a:xfrm>
            <a:off x="147484" y="117987"/>
            <a:ext cx="10795818" cy="745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50" dirty="0"/>
              <a:t>Then run this file in terminal by writing:  python preprocess_data.py</a:t>
            </a:r>
          </a:p>
          <a:p>
            <a:endParaRPr lang="en-IN" sz="1650" dirty="0"/>
          </a:p>
          <a:p>
            <a:r>
              <a:rPr lang="en-IN" sz="1650" dirty="0"/>
              <a:t>Then create a new file with this name content_based_filtering.py and write this code:</a:t>
            </a:r>
          </a:p>
          <a:p>
            <a:endParaRPr lang="en-IN" sz="1650" dirty="0"/>
          </a:p>
          <a:p>
            <a:r>
              <a:rPr lang="en-IN" dirty="0"/>
              <a:t>import pandas as pd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import </a:t>
            </a:r>
            <a:r>
              <a:rPr lang="en-IN" dirty="0" err="1"/>
              <a:t>sklearn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sklearn.feature_extraction.text</a:t>
            </a:r>
            <a:r>
              <a:rPr lang="en-IN" dirty="0"/>
              <a:t> import </a:t>
            </a:r>
            <a:r>
              <a:rPr lang="en-IN" dirty="0" err="1"/>
              <a:t>TfidfVectorizer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sklearn.metrics.pairwise</a:t>
            </a:r>
            <a:r>
              <a:rPr lang="en-IN" dirty="0"/>
              <a:t> import </a:t>
            </a:r>
            <a:r>
              <a:rPr lang="en-IN" dirty="0" err="1"/>
              <a:t>cosine_similarity</a:t>
            </a:r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content_based_recommendation</a:t>
            </a:r>
            <a:r>
              <a:rPr lang="en-IN" dirty="0"/>
              <a:t>(data, </a:t>
            </a:r>
            <a:r>
              <a:rPr lang="en-IN" dirty="0" err="1"/>
              <a:t>item_name</a:t>
            </a:r>
            <a:r>
              <a:rPr lang="en-IN" dirty="0"/>
              <a:t>, </a:t>
            </a:r>
            <a:r>
              <a:rPr lang="en-IN" dirty="0" err="1"/>
              <a:t>top_n</a:t>
            </a:r>
            <a:r>
              <a:rPr lang="en-IN" dirty="0"/>
              <a:t>=10):</a:t>
            </a:r>
          </a:p>
          <a:p>
            <a:r>
              <a:rPr lang="en-IN" dirty="0"/>
              <a:t>  if </a:t>
            </a:r>
            <a:r>
              <a:rPr lang="en-IN" dirty="0" err="1"/>
              <a:t>item_name</a:t>
            </a:r>
            <a:r>
              <a:rPr lang="en-IN" dirty="0"/>
              <a:t> not in data['Name'].values:</a:t>
            </a:r>
          </a:p>
          <a:p>
            <a:r>
              <a:rPr lang="en-IN" dirty="0"/>
              <a:t>    print(</a:t>
            </a:r>
            <a:r>
              <a:rPr lang="en-IN" dirty="0" err="1"/>
              <a:t>f"item</a:t>
            </a:r>
            <a:r>
              <a:rPr lang="en-IN" dirty="0"/>
              <a:t> '{</a:t>
            </a:r>
            <a:r>
              <a:rPr lang="en-IN" dirty="0" err="1"/>
              <a:t>item_name</a:t>
            </a:r>
            <a:r>
              <a:rPr lang="en-IN" dirty="0"/>
              <a:t>}' not found in the data.")</a:t>
            </a:r>
          </a:p>
          <a:p>
            <a:r>
              <a:rPr lang="en-IN" dirty="0"/>
              <a:t>    return </a:t>
            </a:r>
            <a:r>
              <a:rPr lang="en-IN" dirty="0" err="1"/>
              <a:t>pd.DataFrame</a:t>
            </a:r>
            <a:r>
              <a:rPr lang="en-IN" dirty="0"/>
              <a:t>()</a:t>
            </a:r>
          </a:p>
          <a:p>
            <a:r>
              <a:rPr lang="en-IN" dirty="0"/>
              <a:t>  </a:t>
            </a:r>
            <a:r>
              <a:rPr lang="en-IN" dirty="0" err="1"/>
              <a:t>tfidf_vectorizer</a:t>
            </a:r>
            <a:r>
              <a:rPr lang="en-IN" dirty="0"/>
              <a:t> = </a:t>
            </a:r>
            <a:r>
              <a:rPr lang="en-IN" dirty="0" err="1"/>
              <a:t>TfidfVectorizer</a:t>
            </a:r>
            <a:r>
              <a:rPr lang="en-IN" dirty="0"/>
              <a:t>(</a:t>
            </a:r>
            <a:r>
              <a:rPr lang="en-IN" dirty="0" err="1"/>
              <a:t>stop_words</a:t>
            </a:r>
            <a:r>
              <a:rPr lang="en-IN" dirty="0"/>
              <a:t>='</a:t>
            </a:r>
            <a:r>
              <a:rPr lang="en-IN" dirty="0" err="1"/>
              <a:t>english</a:t>
            </a:r>
            <a:r>
              <a:rPr lang="en-IN" dirty="0"/>
              <a:t>')</a:t>
            </a:r>
          </a:p>
          <a:p>
            <a:r>
              <a:rPr lang="en-IN" dirty="0"/>
              <a:t>  </a:t>
            </a:r>
            <a:r>
              <a:rPr lang="en-IN" dirty="0" err="1"/>
              <a:t>tfidf_matrix_content</a:t>
            </a:r>
            <a:r>
              <a:rPr lang="en-IN" dirty="0"/>
              <a:t> = </a:t>
            </a:r>
            <a:r>
              <a:rPr lang="en-IN" dirty="0" err="1"/>
              <a:t>tfidf_vectorizer.fit_transform</a:t>
            </a:r>
            <a:r>
              <a:rPr lang="en-IN" dirty="0"/>
              <a:t>(data['Tags'])</a:t>
            </a:r>
          </a:p>
          <a:p>
            <a:r>
              <a:rPr lang="en-IN" dirty="0"/>
              <a:t>  </a:t>
            </a:r>
            <a:r>
              <a:rPr lang="en-IN" dirty="0" err="1"/>
              <a:t>cosine_similarity_content</a:t>
            </a:r>
            <a:r>
              <a:rPr lang="en-IN" dirty="0"/>
              <a:t> = </a:t>
            </a:r>
            <a:r>
              <a:rPr lang="en-IN" dirty="0" err="1"/>
              <a:t>cosine_similarity</a:t>
            </a:r>
            <a:r>
              <a:rPr lang="en-IN" dirty="0"/>
              <a:t>(</a:t>
            </a:r>
            <a:r>
              <a:rPr lang="en-IN" dirty="0" err="1"/>
              <a:t>tfidf_matrix_content</a:t>
            </a:r>
            <a:r>
              <a:rPr lang="en-IN" dirty="0"/>
              <a:t>, </a:t>
            </a:r>
            <a:r>
              <a:rPr lang="en-IN" dirty="0" err="1"/>
              <a:t>tfidf_matrix_content</a:t>
            </a:r>
            <a:r>
              <a:rPr lang="en-IN" dirty="0"/>
              <a:t>)</a:t>
            </a:r>
          </a:p>
          <a:p>
            <a:r>
              <a:rPr lang="en-IN" dirty="0"/>
              <a:t>  </a:t>
            </a:r>
            <a:r>
              <a:rPr lang="en-IN" dirty="0" err="1"/>
              <a:t>item_index</a:t>
            </a:r>
            <a:r>
              <a:rPr lang="en-IN" dirty="0"/>
              <a:t> = data[data['Name']==</a:t>
            </a:r>
            <a:r>
              <a:rPr lang="en-IN" dirty="0" err="1"/>
              <a:t>item_name</a:t>
            </a:r>
            <a:r>
              <a:rPr lang="en-IN" dirty="0"/>
              <a:t>].index[0]</a:t>
            </a:r>
          </a:p>
          <a:p>
            <a:r>
              <a:rPr lang="en-IN" dirty="0"/>
              <a:t>  </a:t>
            </a:r>
            <a:r>
              <a:rPr lang="en-IN" dirty="0" err="1"/>
              <a:t>similar_items</a:t>
            </a:r>
            <a:r>
              <a:rPr lang="en-IN" dirty="0"/>
              <a:t> = list(enumerate(</a:t>
            </a:r>
            <a:r>
              <a:rPr lang="en-IN" dirty="0" err="1"/>
              <a:t>cosine_similarity_content</a:t>
            </a:r>
            <a:r>
              <a:rPr lang="en-IN" dirty="0"/>
              <a:t>[</a:t>
            </a:r>
            <a:r>
              <a:rPr lang="en-IN" dirty="0" err="1"/>
              <a:t>item_index</a:t>
            </a:r>
            <a:r>
              <a:rPr lang="en-IN" dirty="0"/>
              <a:t>]))</a:t>
            </a:r>
          </a:p>
          <a:p>
            <a:r>
              <a:rPr lang="en-IN" dirty="0"/>
              <a:t>  </a:t>
            </a:r>
            <a:r>
              <a:rPr lang="en-IN" dirty="0" err="1"/>
              <a:t>similar_prod</a:t>
            </a:r>
            <a:r>
              <a:rPr lang="en-IN" dirty="0"/>
              <a:t> = sorted(</a:t>
            </a:r>
            <a:r>
              <a:rPr lang="en-IN" dirty="0" err="1"/>
              <a:t>similar_items</a:t>
            </a:r>
            <a:r>
              <a:rPr lang="en-IN" dirty="0"/>
              <a:t>, key=lambda x:x[1], reverse=True)</a:t>
            </a:r>
          </a:p>
          <a:p>
            <a:r>
              <a:rPr lang="en-IN" dirty="0"/>
              <a:t>  </a:t>
            </a:r>
            <a:r>
              <a:rPr lang="en-IN" dirty="0" err="1"/>
              <a:t>top_similar_prod</a:t>
            </a:r>
            <a:r>
              <a:rPr lang="en-IN" dirty="0"/>
              <a:t> = </a:t>
            </a:r>
            <a:r>
              <a:rPr lang="en-IN" dirty="0" err="1"/>
              <a:t>similar_prod</a:t>
            </a:r>
            <a:r>
              <a:rPr lang="en-IN" dirty="0"/>
              <a:t>[:</a:t>
            </a:r>
            <a:r>
              <a:rPr lang="en-IN" dirty="0" err="1"/>
              <a:t>top_n</a:t>
            </a:r>
            <a:r>
              <a:rPr lang="en-IN" dirty="0"/>
              <a:t>]</a:t>
            </a:r>
          </a:p>
          <a:p>
            <a:r>
              <a:rPr lang="en-IN" dirty="0"/>
              <a:t>  </a:t>
            </a:r>
            <a:r>
              <a:rPr lang="en-IN" dirty="0" err="1"/>
              <a:t>recommended_items_indices</a:t>
            </a:r>
            <a:r>
              <a:rPr lang="en-IN" dirty="0"/>
              <a:t> = [x[0] for x in </a:t>
            </a:r>
            <a:r>
              <a:rPr lang="en-IN" dirty="0" err="1"/>
              <a:t>top_similar_prod</a:t>
            </a:r>
            <a:r>
              <a:rPr lang="en-IN" dirty="0"/>
              <a:t>]</a:t>
            </a:r>
          </a:p>
          <a:p>
            <a:r>
              <a:rPr lang="en-IN" dirty="0"/>
              <a:t>  </a:t>
            </a:r>
            <a:r>
              <a:rPr lang="en-IN" dirty="0" err="1"/>
              <a:t>recommended_item_details</a:t>
            </a:r>
            <a:r>
              <a:rPr lang="en-IN" dirty="0"/>
              <a:t> = </a:t>
            </a:r>
            <a:r>
              <a:rPr lang="en-IN" dirty="0" err="1"/>
              <a:t>data.iloc</a:t>
            </a:r>
            <a:r>
              <a:rPr lang="en-IN" dirty="0"/>
              <a:t>[</a:t>
            </a:r>
            <a:r>
              <a:rPr lang="en-IN" dirty="0" err="1"/>
              <a:t>recommended_items_indices</a:t>
            </a:r>
            <a:r>
              <a:rPr lang="en-IN" dirty="0"/>
              <a:t>][['Name', '</a:t>
            </a:r>
            <a:r>
              <a:rPr lang="en-IN" dirty="0" err="1"/>
              <a:t>ReviewCount</a:t>
            </a:r>
            <a:r>
              <a:rPr lang="en-IN" dirty="0"/>
              <a:t>', 'Brand']]</a:t>
            </a:r>
          </a:p>
          <a:p>
            <a:r>
              <a:rPr lang="en-IN" dirty="0"/>
              <a:t>  return </a:t>
            </a:r>
            <a:r>
              <a:rPr lang="en-IN" dirty="0" err="1"/>
              <a:t>recommended_item_details</a:t>
            </a:r>
            <a:endParaRPr lang="en-IN" dirty="0"/>
          </a:p>
          <a:p>
            <a:r>
              <a:rPr lang="en-IN" dirty="0"/>
              <a:t># Then write this in the same file</a:t>
            </a:r>
          </a:p>
          <a:p>
            <a:br>
              <a:rPr lang="en-IN" dirty="0"/>
            </a:br>
            <a:endParaRPr lang="en-IN" dirty="0"/>
          </a:p>
          <a:p>
            <a:endParaRPr lang="en-IN" sz="1650" dirty="0"/>
          </a:p>
        </p:txBody>
      </p:sp>
    </p:spTree>
    <p:extLst>
      <p:ext uri="{BB962C8B-B14F-4D97-AF65-F5344CB8AC3E}">
        <p14:creationId xmlns:p14="http://schemas.microsoft.com/office/powerpoint/2010/main" val="193609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9F372D-5775-4BD6-43CE-013990FD2795}"/>
              </a:ext>
            </a:extLst>
          </p:cNvPr>
          <p:cNvSpPr txBox="1"/>
          <p:nvPr/>
        </p:nvSpPr>
        <p:spPr>
          <a:xfrm>
            <a:off x="422786" y="320711"/>
            <a:ext cx="11523407" cy="297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TO test the system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if __name__ == "__main__":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import pandas as pd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from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preprocess_data</a:t>
            </a:r>
            <a:r>
              <a:rPr lang="en-IN" b="0" dirty="0">
                <a:effectLst/>
                <a:latin typeface="Consolas" panose="020B0609020204030204" pitchFamily="49" charset="0"/>
              </a:rPr>
              <a:t> import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process_data</a:t>
            </a: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raw_data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pd.read_csv</a:t>
            </a:r>
            <a:r>
              <a:rPr lang="en-IN" b="0" dirty="0">
                <a:effectLst/>
                <a:latin typeface="Consolas" panose="020B0609020204030204" pitchFamily="49" charset="0"/>
              </a:rPr>
              <a:t>("clean_data.csv")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data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process_data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raw_data</a:t>
            </a: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item_name</a:t>
            </a:r>
            <a:r>
              <a:rPr lang="en-IN" b="0" dirty="0">
                <a:effectLst/>
                <a:latin typeface="Consolas" panose="020B0609020204030204" pitchFamily="49" charset="0"/>
              </a:rPr>
              <a:t> = "OPI Infinite Shine, Nail Lacquer Nail Polish, Bubble Bath"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result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content_based_recommendation</a:t>
            </a:r>
            <a:r>
              <a:rPr lang="en-IN" b="0" dirty="0">
                <a:effectLst/>
                <a:latin typeface="Consolas" panose="020B0609020204030204" pitchFamily="49" charset="0"/>
              </a:rPr>
              <a:t>(data,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item_name</a:t>
            </a:r>
            <a:r>
              <a:rPr lang="en-IN" b="0" dirty="0"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top_n</a:t>
            </a:r>
            <a:r>
              <a:rPr lang="en-IN" b="0" dirty="0">
                <a:effectLst/>
                <a:latin typeface="Consolas" panose="020B0609020204030204" pitchFamily="49" charset="0"/>
              </a:rPr>
              <a:t>=5)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print(result)</a:t>
            </a:r>
          </a:p>
          <a:p>
            <a:pPr>
              <a:lnSpc>
                <a:spcPts val="1425"/>
              </a:lnSpc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dirty="0">
                <a:latin typeface="Consolas" panose="020B0609020204030204" pitchFamily="49" charset="0"/>
              </a:rPr>
              <a:t># And run this file in your terminal by writing: python content_based_filtering.py</a:t>
            </a:r>
            <a:endParaRPr lang="en-IN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88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9C91EE-B1CA-7CB6-0F62-18BA05570E86}"/>
              </a:ext>
            </a:extLst>
          </p:cNvPr>
          <p:cNvSpPr txBox="1"/>
          <p:nvPr/>
        </p:nvSpPr>
        <p:spPr>
          <a:xfrm>
            <a:off x="501444" y="272364"/>
            <a:ext cx="11218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 machine learning, </a:t>
            </a:r>
            <a:r>
              <a:rPr lang="en-US" b="1" dirty="0"/>
              <a:t>Accuracy</a:t>
            </a:r>
            <a:r>
              <a:rPr lang="en-US" dirty="0"/>
              <a:t> can be a liar—especially if your data is "unbalanced" (e.g., if 99% of emails are not spam, a model that says "never spam" is 99% accurate but useless).</a:t>
            </a:r>
          </a:p>
          <a:p>
            <a:pPr>
              <a:buNone/>
            </a:pPr>
            <a:r>
              <a:rPr lang="en-US" dirty="0"/>
              <a:t>To truly understand how a model performs, we use </a:t>
            </a:r>
            <a:r>
              <a:rPr lang="en-US" b="1" dirty="0"/>
              <a:t>Precision, Recall, and the F1-score</a:t>
            </a:r>
            <a:r>
              <a:rPr lang="en-US" dirty="0"/>
              <a:t>. Think of these like looking at a hunter's performance: was their aim steady (Precision) and did they actually catch all the targets (Recall)?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C2F66-5876-7587-19C4-03AEB326A09A}"/>
              </a:ext>
            </a:extLst>
          </p:cNvPr>
          <p:cNvSpPr txBox="1"/>
          <p:nvPr/>
        </p:nvSpPr>
        <p:spPr>
          <a:xfrm>
            <a:off x="501443" y="1657864"/>
            <a:ext cx="113464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Precision: The "Quality" Metric</a:t>
            </a:r>
          </a:p>
          <a:p>
            <a:pPr>
              <a:buNone/>
            </a:pPr>
            <a:r>
              <a:rPr lang="en-US" dirty="0"/>
              <a:t>Precision asks: </a:t>
            </a:r>
            <a:r>
              <a:rPr lang="en-US" b="1" dirty="0"/>
              <a:t>"Of all the times the model predicted 'Positive,' how many were actually correct?"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Minimize False Positives (False Alarms).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Real-world Example:</a:t>
            </a:r>
            <a:r>
              <a:rPr lang="en-US" dirty="0"/>
              <a:t> A </a:t>
            </a:r>
            <a:r>
              <a:rPr lang="en-US" b="1" dirty="0"/>
              <a:t>Spam Filter</a:t>
            </a:r>
            <a:r>
              <a:rPr lang="en-US" dirty="0"/>
              <a:t>. You want high precision because you don’t want your boss's important email marked as spam by mistake.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3B10E-3B58-6A9D-41FD-97DE1A0115D5}"/>
              </a:ext>
            </a:extLst>
          </p:cNvPr>
          <p:cNvSpPr txBox="1"/>
          <p:nvPr/>
        </p:nvSpPr>
        <p:spPr>
          <a:xfrm>
            <a:off x="619432" y="31240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Precision</a:t>
            </a:r>
          </a:p>
          <a:p>
            <a:pPr>
              <a:buNone/>
            </a:pPr>
            <a:r>
              <a:rPr lang="en-IN" dirty="0"/>
              <a:t>Precision = True Positives / (True Positives + False Positives)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E1C2C-5D8B-25E0-EF81-58A2E7FF4F3B}"/>
              </a:ext>
            </a:extLst>
          </p:cNvPr>
          <p:cNvSpPr txBox="1"/>
          <p:nvPr/>
        </p:nvSpPr>
        <p:spPr>
          <a:xfrm>
            <a:off x="619431" y="4038119"/>
            <a:ext cx="10019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Understanding the Variables: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True Positives (TP):</a:t>
            </a:r>
            <a:r>
              <a:rPr lang="en-US" dirty="0"/>
              <a:t> The model predicted "Yes," and it was actually "Yes."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False Positives (FP):</a:t>
            </a:r>
            <a:r>
              <a:rPr lang="en-US" dirty="0"/>
              <a:t> The model predicted "Yes," but it was actually "No" (False Alarm).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False Negatives (FN):</a:t>
            </a:r>
            <a:r>
              <a:rPr lang="en-US" dirty="0"/>
              <a:t> The model predicted "No," but it was actually "Yes" (Missed Case).</a:t>
            </a:r>
          </a:p>
        </p:txBody>
      </p:sp>
    </p:spTree>
    <p:extLst>
      <p:ext uri="{BB962C8B-B14F-4D97-AF65-F5344CB8AC3E}">
        <p14:creationId xmlns:p14="http://schemas.microsoft.com/office/powerpoint/2010/main" val="87673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33FA7D8-B5CE-70FF-71B3-A6DC0E33E44F}"/>
              </a:ext>
            </a:extLst>
          </p:cNvPr>
          <p:cNvSpPr txBox="1"/>
          <p:nvPr/>
        </p:nvSpPr>
        <p:spPr>
          <a:xfrm>
            <a:off x="383456" y="201174"/>
            <a:ext cx="110022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Recall: The "Quantity" Metric</a:t>
            </a:r>
          </a:p>
          <a:p>
            <a:pPr>
              <a:buNone/>
            </a:pPr>
            <a:r>
              <a:rPr lang="en-US" dirty="0"/>
              <a:t>Recall (also called Sensitivity) asks: </a:t>
            </a:r>
            <a:r>
              <a:rPr lang="en-US" b="1" dirty="0"/>
              <a:t>"Of all the actual 'Positive' cases that exist, how many did the model find?"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Minimize False Negatives (Missed Cases).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Real-world Example:</a:t>
            </a:r>
            <a:r>
              <a:rPr lang="en-US" dirty="0"/>
              <a:t> </a:t>
            </a:r>
            <a:r>
              <a:rPr lang="en-US" b="1" dirty="0"/>
              <a:t>Cancer Diagnosis</a:t>
            </a:r>
            <a:r>
              <a:rPr lang="en-US" dirty="0"/>
              <a:t>. You want high recall because missing a single case of cancer is much worse than having a "scare" that turns out to be nothing.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Formula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B6B6D-43BF-E829-7222-C8318D79A68E}"/>
              </a:ext>
            </a:extLst>
          </p:cNvPr>
          <p:cNvSpPr txBox="1"/>
          <p:nvPr/>
        </p:nvSpPr>
        <p:spPr>
          <a:xfrm>
            <a:off x="471948" y="22233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Recall</a:t>
            </a:r>
          </a:p>
          <a:p>
            <a:pPr>
              <a:buNone/>
            </a:pPr>
            <a:r>
              <a:rPr lang="en-US" dirty="0"/>
              <a:t>Recall = True Positives / (True Positives + False Negatives)</a:t>
            </a:r>
          </a:p>
        </p:txBody>
      </p:sp>
    </p:spTree>
    <p:extLst>
      <p:ext uri="{BB962C8B-B14F-4D97-AF65-F5344CB8AC3E}">
        <p14:creationId xmlns:p14="http://schemas.microsoft.com/office/powerpoint/2010/main" val="102295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FD9B77-B493-EA6A-23EA-46EA2CFA4995}"/>
              </a:ext>
            </a:extLst>
          </p:cNvPr>
          <p:cNvSpPr txBox="1"/>
          <p:nvPr/>
        </p:nvSpPr>
        <p:spPr>
          <a:xfrm>
            <a:off x="481780" y="418999"/>
            <a:ext cx="110219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The Trade-off</a:t>
            </a:r>
          </a:p>
          <a:p>
            <a:pPr>
              <a:buNone/>
            </a:pPr>
            <a:r>
              <a:rPr lang="en-US" dirty="0"/>
              <a:t>There is usually a tug-of-war between these two.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you make your model </a:t>
            </a:r>
            <a:r>
              <a:rPr lang="en-US" b="1" dirty="0"/>
              <a:t>stricter</a:t>
            </a:r>
            <a:r>
              <a:rPr lang="en-US" dirty="0"/>
              <a:t> (higher threshold), your </a:t>
            </a:r>
            <a:r>
              <a:rPr lang="en-US" b="1" dirty="0"/>
              <a:t>Precision goes up</a:t>
            </a:r>
            <a:r>
              <a:rPr lang="en-US" dirty="0"/>
              <a:t> (you're very sure when you say "yes"), but your </a:t>
            </a:r>
            <a:r>
              <a:rPr lang="en-US" b="1" dirty="0"/>
              <a:t>Recall goes down</a:t>
            </a:r>
            <a:r>
              <a:rPr lang="en-US" dirty="0"/>
              <a:t> (you might miss the tricky cases).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you make your model </a:t>
            </a:r>
            <a:r>
              <a:rPr lang="en-US" b="1" dirty="0"/>
              <a:t>more sensitive</a:t>
            </a:r>
            <a:r>
              <a:rPr lang="en-US" dirty="0"/>
              <a:t>, your </a:t>
            </a:r>
            <a:r>
              <a:rPr lang="en-US" b="1" dirty="0"/>
              <a:t>Recall goes up</a:t>
            </a:r>
            <a:r>
              <a:rPr lang="en-US" dirty="0"/>
              <a:t> (you catch everything), but your </a:t>
            </a:r>
            <a:r>
              <a:rPr lang="en-US" b="1" dirty="0"/>
              <a:t>Precision goes down</a:t>
            </a:r>
            <a:r>
              <a:rPr lang="en-US" dirty="0"/>
              <a:t> (you start crying "wolf" too often).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5A01D-2FB5-1E40-FD76-65FCB05DB7BB}"/>
              </a:ext>
            </a:extLst>
          </p:cNvPr>
          <p:cNvSpPr txBox="1"/>
          <p:nvPr/>
        </p:nvSpPr>
        <p:spPr>
          <a:xfrm>
            <a:off x="368708" y="2641090"/>
            <a:ext cx="11248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F1-Score: The "Balance" Metric The F1-score is the Harmonic Mean of Precision and Recall. It gives you a single number to judge the model. Why use it? It punishes extreme values. If your Precision is a perfect 1.0 but your Recall is 0.0, your F1-score will be 0. It only stays high if both metrics are doing well. When to use it: When you want a balance between the two and don't have a specific reason to prioritize one over the other.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A7E77-237E-4E5C-19FD-0A5E3872F716}"/>
              </a:ext>
            </a:extLst>
          </p:cNvPr>
          <p:cNvSpPr txBox="1"/>
          <p:nvPr/>
        </p:nvSpPr>
        <p:spPr>
          <a:xfrm>
            <a:off x="481780" y="41505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F1-Score</a:t>
            </a:r>
          </a:p>
          <a:p>
            <a:pPr>
              <a:buNone/>
            </a:pPr>
            <a:r>
              <a:rPr lang="en-IN" dirty="0"/>
              <a:t>F1-Score = 2 * (Precision * Recall) / (Precision + Recall)</a:t>
            </a:r>
          </a:p>
        </p:txBody>
      </p:sp>
    </p:spTree>
    <p:extLst>
      <p:ext uri="{BB962C8B-B14F-4D97-AF65-F5344CB8AC3E}">
        <p14:creationId xmlns:p14="http://schemas.microsoft.com/office/powerpoint/2010/main" val="262753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17A8AA-4EEA-00D1-3204-81623A5E0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937958"/>
              </p:ext>
            </p:extLst>
          </p:nvPr>
        </p:nvGraphicFramePr>
        <p:xfrm>
          <a:off x="405581" y="604741"/>
          <a:ext cx="10515600" cy="24079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813859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31311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624326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74643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Focus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Question Answered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Value Means...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09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Correctness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How many "yes" were right?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Very few false alarms.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284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Recall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Coverage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Did we find all the "yes" cases?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Very few missed cases.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22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Balance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 the overall performance stable?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Good balance of both.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429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99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60C8B-4BCE-9F13-0A71-2EC6EDEACD3D}"/>
              </a:ext>
            </a:extLst>
          </p:cNvPr>
          <p:cNvSpPr txBox="1"/>
          <p:nvPr/>
        </p:nvSpPr>
        <p:spPr>
          <a:xfrm>
            <a:off x="540774" y="375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Classification Metrics: A Detailed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DEA9C-D64F-7CC4-9DB7-729C4EE39CB2}"/>
              </a:ext>
            </a:extLst>
          </p:cNvPr>
          <p:cNvSpPr txBox="1"/>
          <p:nvPr/>
        </p:nvSpPr>
        <p:spPr>
          <a:xfrm>
            <a:off x="540773" y="943500"/>
            <a:ext cx="11169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Confusion Matrix Foundation</a:t>
            </a:r>
          </a:p>
          <a:p>
            <a:pPr>
              <a:buNone/>
            </a:pPr>
            <a:r>
              <a:rPr lang="en-US" dirty="0"/>
              <a:t>Before diving into the metrics, we need to understand the confusion matrix, which forms the basis for all classification metrics: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C45A7-893A-2994-11AA-AE331E3978BA}"/>
              </a:ext>
            </a:extLst>
          </p:cNvPr>
          <p:cNvSpPr txBox="1"/>
          <p:nvPr/>
        </p:nvSpPr>
        <p:spPr>
          <a:xfrm>
            <a:off x="776748" y="1866830"/>
            <a:ext cx="88097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			predicted</a:t>
            </a:r>
          </a:p>
          <a:p>
            <a:r>
              <a:rPr lang="en-IN" dirty="0"/>
              <a:t>			Positive  Negative</a:t>
            </a:r>
          </a:p>
          <a:p>
            <a:r>
              <a:rPr lang="en-IN" dirty="0"/>
              <a:t>Actual     Positive    		TP        FN</a:t>
            </a:r>
          </a:p>
          <a:p>
            <a:r>
              <a:rPr lang="en-IN" dirty="0"/>
              <a:t>               Negative      	 FP        TN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B2A389-6921-38F3-FCA4-26D19168D82C}"/>
              </a:ext>
            </a:extLst>
          </p:cNvPr>
          <p:cNvSpPr txBox="1"/>
          <p:nvPr/>
        </p:nvSpPr>
        <p:spPr>
          <a:xfrm>
            <a:off x="658760" y="3293380"/>
            <a:ext cx="8032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True Positives (TP)</a:t>
            </a:r>
            <a:r>
              <a:rPr lang="en-US" dirty="0"/>
              <a:t>: Correctly predicted positive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True Negatives (TN)</a:t>
            </a:r>
            <a:r>
              <a:rPr lang="en-US" dirty="0"/>
              <a:t>: Correctly predicted negative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False Positives (FP)</a:t>
            </a:r>
            <a:r>
              <a:rPr lang="en-US" dirty="0"/>
              <a:t>: Incorrectly predicted as positive (Type I error)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False Negatives (FN)</a:t>
            </a:r>
            <a:r>
              <a:rPr lang="en-US" dirty="0"/>
              <a:t>: Incorrectly predicted as negative (Type II error)</a:t>
            </a:r>
          </a:p>
        </p:txBody>
      </p:sp>
    </p:spTree>
    <p:extLst>
      <p:ext uri="{BB962C8B-B14F-4D97-AF65-F5344CB8AC3E}">
        <p14:creationId xmlns:p14="http://schemas.microsoft.com/office/powerpoint/2010/main" val="334264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73D7-2F9A-9C5B-7B0B-88F08F25293A}"/>
              </a:ext>
            </a:extLst>
          </p:cNvPr>
          <p:cNvSpPr txBox="1"/>
          <p:nvPr/>
        </p:nvSpPr>
        <p:spPr>
          <a:xfrm>
            <a:off x="501444" y="556650"/>
            <a:ext cx="75806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Streamlit</a:t>
            </a:r>
            <a:r>
              <a:rPr lang="en-IN" b="1" dirty="0"/>
              <a:t> Magic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Pip install </a:t>
            </a:r>
            <a:r>
              <a:rPr lang="en-IN" b="1" dirty="0" err="1"/>
              <a:t>streamlit</a:t>
            </a:r>
            <a:endParaRPr lang="en-IN" b="1" dirty="0"/>
          </a:p>
          <a:p>
            <a:pPr>
              <a:buNone/>
            </a:pPr>
            <a:r>
              <a:rPr lang="en-IN" b="1" dirty="0"/>
              <a:t>Import </a:t>
            </a:r>
            <a:r>
              <a:rPr lang="en-IN" b="1" dirty="0" err="1"/>
              <a:t>streamlit</a:t>
            </a:r>
            <a:r>
              <a:rPr lang="en-IN" b="1" dirty="0"/>
              <a:t> as </a:t>
            </a:r>
            <a:r>
              <a:rPr lang="en-IN" b="1" dirty="0" err="1"/>
              <a:t>st</a:t>
            </a: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Every </a:t>
            </a:r>
            <a:r>
              <a:rPr lang="en-IN" dirty="0" err="1">
                <a:latin typeface="Courier New" panose="02070309020205020404" pitchFamily="49" charset="0"/>
              </a:rPr>
              <a:t>st.something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creates something on the webpage: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</a:t>
            </a:r>
            <a:r>
              <a:rPr lang="en-IN" dirty="0" err="1"/>
              <a:t>st.title</a:t>
            </a:r>
            <a:r>
              <a:rPr lang="en-IN" dirty="0"/>
              <a:t>(‘AI enabled recommendation system’)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st.title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→ Big heading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 err="1"/>
              <a:t>St.text_are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st.text_area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→ Text box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st.button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→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st.write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→ Regular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st.code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→ Code box with syntax highlighting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st.warning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→ Yellow warning message</a:t>
            </a:r>
          </a:p>
        </p:txBody>
      </p:sp>
    </p:spTree>
    <p:extLst>
      <p:ext uri="{BB962C8B-B14F-4D97-AF65-F5344CB8AC3E}">
        <p14:creationId xmlns:p14="http://schemas.microsoft.com/office/powerpoint/2010/main" val="194569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365FEB-B273-C03F-A32B-7C89B803C9C8}"/>
              </a:ext>
            </a:extLst>
          </p:cNvPr>
          <p:cNvSpPr txBox="1"/>
          <p:nvPr/>
        </p:nvSpPr>
        <p:spPr>
          <a:xfrm>
            <a:off x="206477" y="3167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practical examples</a:t>
            </a:r>
            <a:r>
              <a:rPr lang="en-US" dirty="0"/>
              <a:t> with ALL important </a:t>
            </a:r>
            <a:r>
              <a:rPr lang="en-US" dirty="0" err="1"/>
              <a:t>Streamlit</a:t>
            </a:r>
            <a:r>
              <a:rPr lang="en-US" dirty="0"/>
              <a:t> functions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B8B60-E54E-ECCF-A6DE-876F2736D003}"/>
              </a:ext>
            </a:extLst>
          </p:cNvPr>
          <p:cNvSpPr txBox="1"/>
          <p:nvPr/>
        </p:nvSpPr>
        <p:spPr>
          <a:xfrm>
            <a:off x="344129" y="9755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1️⃣ Basic Display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30ED0-5DF7-1812-E38A-C6FA76B34B77}"/>
              </a:ext>
            </a:extLst>
          </p:cNvPr>
          <p:cNvSpPr txBox="1"/>
          <p:nvPr/>
        </p:nvSpPr>
        <p:spPr>
          <a:xfrm>
            <a:off x="344128" y="1634303"/>
            <a:ext cx="109924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</a:t>
            </a:r>
            <a:r>
              <a:rPr lang="en-IN" dirty="0" err="1"/>
              <a:t>st</a:t>
            </a:r>
            <a:endParaRPr lang="en-IN" dirty="0"/>
          </a:p>
          <a:p>
            <a:endParaRPr lang="en-IN" dirty="0"/>
          </a:p>
          <a:p>
            <a:r>
              <a:rPr lang="en-IN" dirty="0"/>
              <a:t># ============================================</a:t>
            </a:r>
          </a:p>
          <a:p>
            <a:r>
              <a:rPr lang="en-IN" dirty="0"/>
              <a:t># DISPLAY FUNCTIONS</a:t>
            </a:r>
          </a:p>
          <a:p>
            <a:r>
              <a:rPr lang="en-IN" dirty="0"/>
              <a:t># ============================================</a:t>
            </a:r>
          </a:p>
          <a:p>
            <a:endParaRPr lang="en-IN" dirty="0"/>
          </a:p>
          <a:p>
            <a:r>
              <a:rPr lang="en-IN" dirty="0"/>
              <a:t># Title (biggest heading)</a:t>
            </a:r>
          </a:p>
          <a:p>
            <a:r>
              <a:rPr lang="en-IN" dirty="0" err="1"/>
              <a:t>st.title</a:t>
            </a:r>
            <a:r>
              <a:rPr lang="en-IN" dirty="0"/>
              <a:t>("🎯 My Awesome App")</a:t>
            </a:r>
          </a:p>
          <a:p>
            <a:endParaRPr lang="en-IN" dirty="0"/>
          </a:p>
          <a:p>
            <a:r>
              <a:rPr lang="en-IN" dirty="0"/>
              <a:t># Headers (different sizes)</a:t>
            </a:r>
          </a:p>
          <a:p>
            <a:r>
              <a:rPr lang="en-IN" dirty="0" err="1"/>
              <a:t>st.header</a:t>
            </a:r>
            <a:r>
              <a:rPr lang="en-IN" dirty="0"/>
              <a:t>("This is a Header")</a:t>
            </a:r>
          </a:p>
          <a:p>
            <a:r>
              <a:rPr lang="en-IN" dirty="0" err="1"/>
              <a:t>st.subheader</a:t>
            </a:r>
            <a:r>
              <a:rPr lang="en-IN" dirty="0"/>
              <a:t>("This is a </a:t>
            </a:r>
            <a:r>
              <a:rPr lang="en-IN" dirty="0" err="1"/>
              <a:t>Subheader</a:t>
            </a:r>
            <a:r>
              <a:rPr lang="en-IN" dirty="0"/>
              <a:t>")</a:t>
            </a:r>
          </a:p>
          <a:p>
            <a:endParaRPr lang="en-IN" dirty="0"/>
          </a:p>
          <a:p>
            <a:r>
              <a:rPr lang="en-IN" dirty="0"/>
              <a:t># Regular text</a:t>
            </a:r>
          </a:p>
          <a:p>
            <a:r>
              <a:rPr lang="en-IN" dirty="0" err="1"/>
              <a:t>st.text</a:t>
            </a:r>
            <a:r>
              <a:rPr lang="en-IN" dirty="0"/>
              <a:t>("This is plain text")</a:t>
            </a:r>
          </a:p>
          <a:p>
            <a:r>
              <a:rPr lang="en-IN" dirty="0" err="1"/>
              <a:t>st.write</a:t>
            </a:r>
            <a:r>
              <a:rPr lang="en-IN" dirty="0"/>
              <a:t>("This is write() - most flexible!")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92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67F8AD-4FEA-71B0-16AD-EFECFCD6F4AD}"/>
              </a:ext>
            </a:extLst>
          </p:cNvPr>
          <p:cNvSpPr txBox="1"/>
          <p:nvPr/>
        </p:nvSpPr>
        <p:spPr>
          <a:xfrm>
            <a:off x="412954" y="569533"/>
            <a:ext cx="100092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Markdown (styled text)</a:t>
            </a:r>
          </a:p>
          <a:p>
            <a:r>
              <a:rPr lang="en-IN" dirty="0" err="1"/>
              <a:t>st.markdown</a:t>
            </a:r>
            <a:r>
              <a:rPr lang="en-IN" dirty="0"/>
              <a:t>("**Bold** text and *italic* text")</a:t>
            </a:r>
          </a:p>
          <a:p>
            <a:r>
              <a:rPr lang="en-IN" dirty="0" err="1"/>
              <a:t>st.markdown</a:t>
            </a:r>
            <a:r>
              <a:rPr lang="en-IN" dirty="0"/>
              <a:t>("# Markdown Heading")</a:t>
            </a:r>
          </a:p>
          <a:p>
            <a:r>
              <a:rPr lang="en-IN" dirty="0" err="1"/>
              <a:t>st.markdown</a:t>
            </a:r>
            <a:r>
              <a:rPr lang="en-IN" dirty="0"/>
              <a:t>("- Bullet point 1\n- Bullet point 2")</a:t>
            </a:r>
          </a:p>
          <a:p>
            <a:endParaRPr lang="en-IN" dirty="0"/>
          </a:p>
          <a:p>
            <a:r>
              <a:rPr lang="en-IN" dirty="0"/>
              <a:t># Code display</a:t>
            </a:r>
          </a:p>
          <a:p>
            <a:r>
              <a:rPr lang="en-IN" dirty="0" err="1"/>
              <a:t>st.code</a:t>
            </a:r>
            <a:r>
              <a:rPr lang="en-IN" dirty="0"/>
              <a:t>("x = 5\</a:t>
            </a:r>
            <a:r>
              <a:rPr lang="en-IN" dirty="0" err="1"/>
              <a:t>nprint</a:t>
            </a:r>
            <a:r>
              <a:rPr lang="en-IN" dirty="0"/>
              <a:t>(x)", language="python")</a:t>
            </a:r>
          </a:p>
          <a:p>
            <a:endParaRPr lang="en-IN" dirty="0"/>
          </a:p>
          <a:p>
            <a:r>
              <a:rPr lang="en-IN" dirty="0"/>
              <a:t># Divider</a:t>
            </a:r>
          </a:p>
          <a:p>
            <a:r>
              <a:rPr lang="en-IN" dirty="0" err="1"/>
              <a:t>st.divider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# Caption (small </a:t>
            </a:r>
            <a:r>
              <a:rPr lang="en-IN" dirty="0" err="1"/>
              <a:t>gray</a:t>
            </a:r>
            <a:r>
              <a:rPr lang="en-IN" dirty="0"/>
              <a:t> text)</a:t>
            </a:r>
          </a:p>
          <a:p>
            <a:r>
              <a:rPr lang="en-IN" dirty="0" err="1"/>
              <a:t>st.caption</a:t>
            </a:r>
            <a:r>
              <a:rPr lang="en-IN" dirty="0"/>
              <a:t>("This is a small caption")</a:t>
            </a:r>
          </a:p>
        </p:txBody>
      </p:sp>
    </p:spTree>
    <p:extLst>
      <p:ext uri="{BB962C8B-B14F-4D97-AF65-F5344CB8AC3E}">
        <p14:creationId xmlns:p14="http://schemas.microsoft.com/office/powerpoint/2010/main" val="2703390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2D8A18-E73D-835E-884A-944E46D03B82}"/>
              </a:ext>
            </a:extLst>
          </p:cNvPr>
          <p:cNvSpPr txBox="1"/>
          <p:nvPr/>
        </p:nvSpPr>
        <p:spPr>
          <a:xfrm>
            <a:off x="255639" y="139648"/>
            <a:ext cx="6096000" cy="6749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import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streamlit</a:t>
            </a:r>
            <a:r>
              <a:rPr lang="en-IN" b="0" dirty="0">
                <a:effectLst/>
                <a:latin typeface="Consolas" panose="020B0609020204030204" pitchFamily="49" charset="0"/>
              </a:rPr>
              <a:t>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</a:t>
            </a: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st.title</a:t>
            </a:r>
            <a:r>
              <a:rPr lang="en-IN" b="0" dirty="0">
                <a:effectLst/>
                <a:latin typeface="Consolas" panose="020B0609020204030204" pitchFamily="49" charset="0"/>
              </a:rPr>
              <a:t>("🎮 Interactive Widgets Demo")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TEXT INPUTS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Single line input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name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st.text_input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("Enter your name:", placeholder="John Doe")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f"Hello</a:t>
            </a:r>
            <a:r>
              <a:rPr lang="en-IN" b="0" dirty="0">
                <a:effectLst/>
                <a:latin typeface="Consolas" panose="020B0609020204030204" pitchFamily="49" charset="0"/>
              </a:rPr>
              <a:t>, {name}!")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Multi-line input (text area)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code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st.text_area</a:t>
            </a:r>
            <a:r>
              <a:rPr lang="en-IN" b="0" dirty="0">
                <a:effectLst/>
                <a:latin typeface="Consolas" panose="020B0609020204030204" pitchFamily="49" charset="0"/>
              </a:rPr>
              <a:t>("Paste your code:", height=150)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Password input (hidden text)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password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st.text_input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("Password:", type="password")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NUMBER INPUTS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Number input with min/max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age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st.number_input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("Your age:",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min_value</a:t>
            </a:r>
            <a:r>
              <a:rPr lang="en-IN" b="0" dirty="0">
                <a:effectLst/>
                <a:latin typeface="Consolas" panose="020B0609020204030204" pitchFamily="49" charset="0"/>
              </a:rPr>
              <a:t>=0,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max_value</a:t>
            </a:r>
            <a:r>
              <a:rPr lang="en-IN" b="0" dirty="0">
                <a:effectLst/>
                <a:latin typeface="Consolas" panose="020B0609020204030204" pitchFamily="49" charset="0"/>
              </a:rPr>
              <a:t>=120, value=25)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087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AFD404-6396-6AC0-E21D-2533C05F47DD}"/>
              </a:ext>
            </a:extLst>
          </p:cNvPr>
          <p:cNvSpPr txBox="1"/>
          <p:nvPr/>
        </p:nvSpPr>
        <p:spPr>
          <a:xfrm>
            <a:off x="304800" y="186928"/>
            <a:ext cx="6096000" cy="692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Slider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volume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st.slider</a:t>
            </a:r>
            <a:r>
              <a:rPr lang="en-IN" b="0" dirty="0">
                <a:effectLst/>
                <a:latin typeface="Consolas" panose="020B0609020204030204" pitchFamily="49" charset="0"/>
              </a:rPr>
              <a:t>("Volume:", 0, 100, 50)  # min, max, default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Range slider (two values)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price_range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st.slider</a:t>
            </a:r>
            <a:r>
              <a:rPr lang="en-IN" b="0" dirty="0">
                <a:effectLst/>
                <a:latin typeface="Consolas" panose="020B0609020204030204" pitchFamily="49" charset="0"/>
              </a:rPr>
              <a:t>("Price range:", 0, 1000, (200, 800))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f"Selected</a:t>
            </a:r>
            <a:r>
              <a:rPr lang="en-IN" b="0" dirty="0">
                <a:effectLst/>
                <a:latin typeface="Consolas" panose="020B0609020204030204" pitchFamily="49" charset="0"/>
              </a:rPr>
              <a:t>: ${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price_range</a:t>
            </a:r>
            <a:r>
              <a:rPr lang="en-IN" b="0" dirty="0">
                <a:effectLst/>
                <a:latin typeface="Consolas" panose="020B0609020204030204" pitchFamily="49" charset="0"/>
              </a:rPr>
              <a:t>[0]} - ${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price_range</a:t>
            </a:r>
            <a:r>
              <a:rPr lang="en-IN" b="0" dirty="0">
                <a:effectLst/>
                <a:latin typeface="Consolas" panose="020B0609020204030204" pitchFamily="49" charset="0"/>
              </a:rPr>
              <a:t>[1]}")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SELECTION INPUTS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Dropdown 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selectbox</a:t>
            </a: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language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st.selectbox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"Choose language:",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["Python", "JavaScript", "Java", "C++"]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Multi-select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hobbies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st.multiselect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"Select hobbies:",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["Reading", "Gaming", "Sports", "Music", "Coding"]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Radio buttons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gender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st.radio</a:t>
            </a:r>
            <a:r>
              <a:rPr lang="en-IN" b="0" dirty="0">
                <a:effectLst/>
                <a:latin typeface="Consolas" panose="020B0609020204030204" pitchFamily="49" charset="0"/>
              </a:rPr>
              <a:t>("Gender:", ["Male", "Female", "Other"])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00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B67EDC-FC62-C1CE-7054-003D9A784E57}"/>
              </a:ext>
            </a:extLst>
          </p:cNvPr>
          <p:cNvSpPr txBox="1"/>
          <p:nvPr/>
        </p:nvSpPr>
        <p:spPr>
          <a:xfrm>
            <a:off x="98322" y="71975"/>
            <a:ext cx="6096000" cy="621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Checkbox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agree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st.checkbox</a:t>
            </a:r>
            <a:r>
              <a:rPr lang="en-IN" b="0" dirty="0">
                <a:effectLst/>
                <a:latin typeface="Consolas" panose="020B0609020204030204" pitchFamily="49" charset="0"/>
              </a:rPr>
              <a:t>("I agree to terms and conditions")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if agree: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st.success</a:t>
            </a:r>
            <a:r>
              <a:rPr lang="en-IN" b="0" dirty="0">
                <a:effectLst/>
                <a:latin typeface="Consolas" panose="020B0609020204030204" pitchFamily="49" charset="0"/>
              </a:rPr>
              <a:t>("Thank you for agreeing!")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BUTTONS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Regular button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if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st.button</a:t>
            </a:r>
            <a:r>
              <a:rPr lang="en-IN" b="0" dirty="0">
                <a:effectLst/>
                <a:latin typeface="Consolas" panose="020B0609020204030204" pitchFamily="49" charset="0"/>
              </a:rPr>
              <a:t>("Click Me!"):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("Button was clicked!")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Primary button (highlighted)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if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st.button</a:t>
            </a:r>
            <a:r>
              <a:rPr lang="en-IN" b="0" dirty="0">
                <a:effectLst/>
                <a:latin typeface="Consolas" panose="020B0609020204030204" pitchFamily="49" charset="0"/>
              </a:rPr>
              <a:t>("Submit", type="primary"):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st.balloons</a:t>
            </a:r>
            <a:r>
              <a:rPr lang="en-IN" b="0" dirty="0">
                <a:effectLst/>
                <a:latin typeface="Consolas" panose="020B0609020204030204" pitchFamily="49" charset="0"/>
              </a:rPr>
              <a:t>()  # Fun animation!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Download button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data = "Sample data to download"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st.download_button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label="Download Data",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data=data,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file_name</a:t>
            </a:r>
            <a:r>
              <a:rPr lang="en-IN" b="0" dirty="0">
                <a:effectLst/>
                <a:latin typeface="Consolas" panose="020B0609020204030204" pitchFamily="49" charset="0"/>
              </a:rPr>
              <a:t>="data.txt"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4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4404BC-19C4-5D40-7ECA-40554872F686}"/>
              </a:ext>
            </a:extLst>
          </p:cNvPr>
          <p:cNvSpPr txBox="1"/>
          <p:nvPr/>
        </p:nvSpPr>
        <p:spPr>
          <a:xfrm>
            <a:off x="412954" y="69290"/>
            <a:ext cx="11100619" cy="6212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DATE &amp; TIME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Date input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birthday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st.date_input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("Your birthday:")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Time input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meeting_time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st.time_input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("Meeting time:")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uploaded_file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st.file_uploader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"Upload a file:",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type=["txt", "pdf", "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py</a:t>
            </a:r>
            <a:r>
              <a:rPr lang="en-IN" b="0" dirty="0">
                <a:effectLst/>
                <a:latin typeface="Consolas" panose="020B0609020204030204" pitchFamily="49" charset="0"/>
              </a:rPr>
              <a:t>", "jpg", "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png</a:t>
            </a:r>
            <a:r>
              <a:rPr lang="en-IN" b="0" dirty="0">
                <a:effectLst/>
                <a:latin typeface="Consolas" panose="020B0609020204030204" pitchFamily="49" charset="0"/>
              </a:rPr>
              <a:t>"]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if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uploaded_file</a:t>
            </a:r>
            <a:r>
              <a:rPr lang="en-IN" b="0" dirty="0"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st.success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f"Uploaded</a:t>
            </a:r>
            <a:r>
              <a:rPr lang="en-IN" b="0" dirty="0">
                <a:effectLst/>
                <a:latin typeface="Consolas" panose="020B0609020204030204" pitchFamily="49" charset="0"/>
              </a:rPr>
              <a:t>: {uploaded_file.name}")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# Read file content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content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uploaded_file.read</a:t>
            </a:r>
            <a:r>
              <a:rPr lang="en-IN" b="0" dirty="0"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f"File</a:t>
            </a:r>
            <a:r>
              <a:rPr lang="en-IN" b="0" dirty="0">
                <a:effectLst/>
                <a:latin typeface="Consolas" panose="020B0609020204030204" pitchFamily="49" charset="0"/>
              </a:rPr>
              <a:t> size: {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IN" b="0" dirty="0">
                <a:effectLst/>
                <a:latin typeface="Consolas" panose="020B0609020204030204" pitchFamily="49" charset="0"/>
              </a:rPr>
              <a:t>(content)} bytes")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COLOR PICKER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st.color_picker</a:t>
            </a:r>
            <a:r>
              <a:rPr lang="en-IN" b="0" dirty="0">
                <a:effectLst/>
                <a:latin typeface="Consolas" panose="020B0609020204030204" pitchFamily="49" charset="0"/>
              </a:rPr>
              <a:t>("Pick a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effectLst/>
                <a:latin typeface="Consolas" panose="020B0609020204030204" pitchFamily="49" charset="0"/>
              </a:rPr>
              <a:t>:", "#FF5733")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f"Selected</a:t>
            </a:r>
            <a:r>
              <a:rPr lang="en-IN" b="0" dirty="0"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effectLst/>
                <a:latin typeface="Consolas" panose="020B0609020204030204" pitchFamily="49" charset="0"/>
              </a:rPr>
              <a:t>: {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effectLst/>
                <a:latin typeface="Consolas" panose="020B0609020204030204" pitchFamily="49" charset="0"/>
              </a:rPr>
              <a:t>}")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25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2383</Words>
  <Application>Microsoft Office PowerPoint</Application>
  <PresentationFormat>Widescreen</PresentationFormat>
  <Paragraphs>296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Courier New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bhutani</dc:creator>
  <cp:lastModifiedBy>simran bhutani</cp:lastModifiedBy>
  <cp:revision>54</cp:revision>
  <dcterms:created xsi:type="dcterms:W3CDTF">2025-12-15T10:53:33Z</dcterms:created>
  <dcterms:modified xsi:type="dcterms:W3CDTF">2026-01-02T18:32:33Z</dcterms:modified>
</cp:coreProperties>
</file>